
<file path=[Content_Types].xml><?xml version="1.0" encoding="utf-8"?>
<Types xmlns="http://schemas.openxmlformats.org/package/2006/content-types">
  <Default Extension="xml" ContentType="application/xml"/>
  <Default Extension="wmf" ContentType="image/x-wmf"/>
  <Default Extension="png" ContentType="image/png"/>
  <Default Extension="jpeg" ContentType="image/jpeg"/>
  <Default Extension="rels" ContentType="application/vnd.openxmlformats-package.relationships+xml"/>
  <Default Extension="bin" ContentType="application/vnd.openxmlformats-officedocument.oleObject"/>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5.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presentation.xml" ContentType="application/vnd.openxmlformats-officedocument.presentationml.presentation.main+xml"/>
  <Override PartName="/ppt/notesSlides/notesSlide9.xml" ContentType="application/vnd.openxmlformats-officedocument.presentationml.notesSlide+xml"/>
  <Override PartName="/ppt/presProps.xml" ContentType="application/vnd.openxmlformats-officedocument.presentationml.presProps+xml"/>
  <Override PartName="/ppt/viewProps.xml" ContentType="application/vnd.openxmlformats-officedocument.presentationml.viewProps+xml"/>
  <Override PartName="/ppt/notesSlides/notesSlide5.xml" ContentType="application/vnd.openxmlformats-officedocument.presentationml.notesSlide+xml"/>
  <Override PartName="/ppt/slides/slide2.xml" ContentType="application/vnd.openxmlformats-officedocument.presentationml.slide+xml"/>
  <Override PartName="/ppt/notesSlides/notesSlide4.xml" ContentType="application/vnd.openxmlformats-officedocument.presentationml.notesSlide+xml"/>
  <Override PartName="/ppt/notesSlides/notesSlide1.xml" ContentType="application/vnd.openxmlformats-officedocument.presentationml.notesSlide+xml"/>
  <Override PartName="/ppt/slides/slide7.xml" ContentType="application/vnd.openxmlformats-officedocument.presentationml.slide+xml"/>
  <Override PartName="/docProps/core.xml" ContentType="application/vnd.openxmlformats-package.core-properties+xml"/>
  <Override PartName="/docProps/app.xml" ContentType="application/vnd.openxmlformats-officedocument.extended-properties+xml"/>
  <Override PartName="/ppt/slides/slide3.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theme/theme1.xml" ContentType="application/vnd.openxmlformats-officedocument.theme+xml"/>
  <Override PartName="/ppt/slideMasters/slideMaster1.xml" ContentType="application/vnd.openxmlformats-officedocument.presentationml.slideMaster+xml"/>
  <Override PartName="/ppt/slides/slide1.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12"/>
  </p:notesMasterIdLst>
  <p:sldIdLst>
    <p:sldId id="256" r:id="rId3"/>
    <p:sldId id="257" r:id="rId4"/>
    <p:sldId id="258" r:id="rId5"/>
    <p:sldId id="259" r:id="rId6"/>
    <p:sldId id="260" r:id="rId7"/>
    <p:sldId id="261" r:id="rId8"/>
    <p:sldId id="262" r:id="rId9"/>
    <p:sldId id="263" r:id="rId10"/>
    <p:sldId id="264" r:id="rId11"/>
  </p:sldIdLst>
  <p:sldSz cx="9144000" cy="5143500"/>
  <p:notesSz cx="5143500" cy="9144000"/>
  <p:defaultTextStyle>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36" d="100"/>
          <a:sy n="136" d="100"/>
        </p:scale>
        <p:origin x="216" y="312"/>
      </p:cViewPr>
      <p:guideLst>
        <p:guide pos="2880"/>
        <p:guide pos="1620" orient="horz"/>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notesMaster" Target="notesMasters/notesMaster1.xml"/><Relationship Id="rId13" Type="http://schemas.openxmlformats.org/officeDocument/2006/relationships/presProps" Target="presProps.xml" /><Relationship Id="rId14" Type="http://schemas.openxmlformats.org/officeDocument/2006/relationships/tableStyles" Target="tableStyles.xml" /><Relationship Id="rId15"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719933614"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986683515"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5282F153-3F37-0F45-9E97-73ACFA13230C}" type="datetimeFigureOut">
              <a:rPr lang="en-US"/>
              <a:t>7/23/19</a:t>
            </a:fld>
            <a:endParaRPr lang="en-US"/>
          </a:p>
        </p:txBody>
      </p:sp>
      <p:sp>
        <p:nvSpPr>
          <p:cNvPr id="331739220"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1673439975"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34962626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1002971190"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86361347" name="Slide Image Placeholder 1"/>
          <p:cNvSpPr>
            <a:spLocks noChangeAspect="1" noGrp="1" noRot="1"/>
          </p:cNvSpPr>
          <p:nvPr>
            <p:ph type="sldImg"/>
          </p:nvPr>
        </p:nvSpPr>
        <p:spPr bwMode="auto"/>
      </p:sp>
      <p:sp>
        <p:nvSpPr>
          <p:cNvPr id="549091855" name="Notes Placeholder 2"/>
          <p:cNvSpPr>
            <a:spLocks noGrp="1"/>
          </p:cNvSpPr>
          <p:nvPr>
            <p:ph type="body" idx="1"/>
          </p:nvPr>
        </p:nvSpPr>
        <p:spPr bwMode="auto"/>
        <p:txBody>
          <a:bodyPr/>
          <a:lstStyle/>
          <a:p>
            <a:pPr>
              <a:defRPr/>
            </a:pPr>
            <a:endParaRPr lang="en-US"/>
          </a:p>
        </p:txBody>
      </p:sp>
      <p:sp>
        <p:nvSpPr>
          <p:cNvPr id="1491136338" name="Slide Number Placeholder 3"/>
          <p:cNvSpPr>
            <a:spLocks noGrp="1"/>
          </p:cNvSpPr>
          <p:nvPr>
            <p:ph type="sldNum" sz="quarter" idx="10"/>
          </p:nvPr>
        </p:nvSpPr>
        <p:spPr bwMode="auto"/>
        <p:txBody>
          <a:bodyPr/>
          <a:lstStyle/>
          <a:p>
            <a:pPr>
              <a:defRPr/>
            </a:pPr>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3391201" name="Slide Image Placeholder 1"/>
          <p:cNvSpPr>
            <a:spLocks noChangeAspect="1" noGrp="1" noRot="1"/>
          </p:cNvSpPr>
          <p:nvPr>
            <p:ph type="sldImg"/>
          </p:nvPr>
        </p:nvSpPr>
        <p:spPr bwMode="auto"/>
      </p:sp>
      <p:sp>
        <p:nvSpPr>
          <p:cNvPr id="306986331" name="Notes Placeholder 2"/>
          <p:cNvSpPr>
            <a:spLocks noGrp="1"/>
          </p:cNvSpPr>
          <p:nvPr>
            <p:ph type="body" idx="1"/>
          </p:nvPr>
        </p:nvSpPr>
        <p:spPr bwMode="auto"/>
        <p:txBody>
          <a:bodyPr/>
          <a:lstStyle/>
          <a:p>
            <a:pPr>
              <a:defRPr/>
            </a:pPr>
            <a:endParaRPr lang="en-US"/>
          </a:p>
        </p:txBody>
      </p:sp>
      <p:sp>
        <p:nvSpPr>
          <p:cNvPr id="2141134110" name="Slide Number Placeholder 3"/>
          <p:cNvSpPr>
            <a:spLocks noGrp="1"/>
          </p:cNvSpPr>
          <p:nvPr>
            <p:ph type="sldNum" sz="quarter" idx="10"/>
          </p:nvPr>
        </p:nvSpPr>
        <p:spPr bwMode="auto"/>
        <p:txBody>
          <a:bodyPr/>
          <a:lstStyle/>
          <a:p>
            <a:pPr>
              <a:defRPr/>
            </a:pPr>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19821596" name="Slide Image Placeholder 1"/>
          <p:cNvSpPr>
            <a:spLocks noChangeAspect="1" noGrp="1" noRot="1"/>
          </p:cNvSpPr>
          <p:nvPr>
            <p:ph type="sldImg"/>
          </p:nvPr>
        </p:nvSpPr>
        <p:spPr bwMode="auto"/>
      </p:sp>
      <p:sp>
        <p:nvSpPr>
          <p:cNvPr id="2092029940" name="Notes Placeholder 2"/>
          <p:cNvSpPr>
            <a:spLocks noGrp="1"/>
          </p:cNvSpPr>
          <p:nvPr>
            <p:ph type="body" idx="1"/>
          </p:nvPr>
        </p:nvSpPr>
        <p:spPr bwMode="auto"/>
        <p:txBody>
          <a:bodyPr/>
          <a:lstStyle/>
          <a:p>
            <a:pPr>
              <a:defRPr/>
            </a:pPr>
            <a:endParaRPr lang="en-US"/>
          </a:p>
        </p:txBody>
      </p:sp>
      <p:sp>
        <p:nvSpPr>
          <p:cNvPr id="1007586198" name="Slide Number Placeholder 3"/>
          <p:cNvSpPr>
            <a:spLocks noGrp="1"/>
          </p:cNvSpPr>
          <p:nvPr>
            <p:ph type="sldNum" sz="quarter" idx="10"/>
          </p:nvPr>
        </p:nvSpPr>
        <p:spPr bwMode="auto"/>
        <p:txBody>
          <a:bodyPr/>
          <a:lstStyle/>
          <a:p>
            <a:pPr>
              <a:defRPr/>
            </a:pPr>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22140322" name="Slide Image Placeholder 1"/>
          <p:cNvSpPr>
            <a:spLocks noChangeAspect="1" noGrp="1" noRot="1"/>
          </p:cNvSpPr>
          <p:nvPr>
            <p:ph type="sldImg"/>
          </p:nvPr>
        </p:nvSpPr>
        <p:spPr bwMode="auto"/>
      </p:sp>
      <p:sp>
        <p:nvSpPr>
          <p:cNvPr id="88920583" name="Notes Placeholder 2"/>
          <p:cNvSpPr>
            <a:spLocks noGrp="1"/>
          </p:cNvSpPr>
          <p:nvPr>
            <p:ph type="body" idx="1"/>
          </p:nvPr>
        </p:nvSpPr>
        <p:spPr bwMode="auto"/>
        <p:txBody>
          <a:bodyPr/>
          <a:lstStyle/>
          <a:p>
            <a:pPr>
              <a:defRPr/>
            </a:pPr>
            <a:endParaRPr lang="en-US"/>
          </a:p>
        </p:txBody>
      </p:sp>
      <p:sp>
        <p:nvSpPr>
          <p:cNvPr id="853037176" name="Slide Number Placeholder 3"/>
          <p:cNvSpPr>
            <a:spLocks noGrp="1"/>
          </p:cNvSpPr>
          <p:nvPr>
            <p:ph type="sldNum" sz="quarter" idx="10"/>
          </p:nvPr>
        </p:nvSpPr>
        <p:spPr bwMode="auto"/>
        <p:txBody>
          <a:bodyPr/>
          <a:lstStyle/>
          <a:p>
            <a:pPr>
              <a:defRPr/>
            </a:pPr>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66256684" name="Slide Image Placeholder 1"/>
          <p:cNvSpPr>
            <a:spLocks noChangeAspect="1" noGrp="1" noRot="1"/>
          </p:cNvSpPr>
          <p:nvPr>
            <p:ph type="sldImg"/>
          </p:nvPr>
        </p:nvSpPr>
        <p:spPr bwMode="auto"/>
      </p:sp>
      <p:sp>
        <p:nvSpPr>
          <p:cNvPr id="1214913374" name="Notes Placeholder 2"/>
          <p:cNvSpPr>
            <a:spLocks noGrp="1"/>
          </p:cNvSpPr>
          <p:nvPr>
            <p:ph type="body" idx="1"/>
          </p:nvPr>
        </p:nvSpPr>
        <p:spPr bwMode="auto"/>
        <p:txBody>
          <a:bodyPr/>
          <a:lstStyle/>
          <a:p>
            <a:pPr>
              <a:defRPr/>
            </a:pPr>
            <a:endParaRPr lang="en-US"/>
          </a:p>
        </p:txBody>
      </p:sp>
      <p:sp>
        <p:nvSpPr>
          <p:cNvPr id="522249033" name="Slide Number Placeholder 3"/>
          <p:cNvSpPr>
            <a:spLocks noGrp="1"/>
          </p:cNvSpPr>
          <p:nvPr>
            <p:ph type="sldNum" sz="quarter" idx="10"/>
          </p:nvPr>
        </p:nvSpPr>
        <p:spPr bwMode="auto"/>
        <p:txBody>
          <a:bodyPr/>
          <a:lstStyle/>
          <a:p>
            <a:pPr>
              <a:defRPr/>
            </a:pPr>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79215185" name="Slide Image Placeholder 1"/>
          <p:cNvSpPr>
            <a:spLocks noChangeAspect="1" noGrp="1" noRot="1"/>
          </p:cNvSpPr>
          <p:nvPr>
            <p:ph type="sldImg"/>
          </p:nvPr>
        </p:nvSpPr>
        <p:spPr bwMode="auto"/>
      </p:sp>
      <p:sp>
        <p:nvSpPr>
          <p:cNvPr id="1538021450" name="Notes Placeholder 2"/>
          <p:cNvSpPr>
            <a:spLocks noGrp="1"/>
          </p:cNvSpPr>
          <p:nvPr>
            <p:ph type="body" idx="1"/>
          </p:nvPr>
        </p:nvSpPr>
        <p:spPr bwMode="auto"/>
        <p:txBody>
          <a:bodyPr/>
          <a:lstStyle/>
          <a:p>
            <a:pPr>
              <a:defRPr/>
            </a:pPr>
            <a:endParaRPr lang="en-US"/>
          </a:p>
        </p:txBody>
      </p:sp>
      <p:sp>
        <p:nvSpPr>
          <p:cNvPr id="273087936" name="Slide Number Placeholder 3"/>
          <p:cNvSpPr>
            <a:spLocks noGrp="1"/>
          </p:cNvSpPr>
          <p:nvPr>
            <p:ph type="sldNum" sz="quarter" idx="10"/>
          </p:nvPr>
        </p:nvSpPr>
        <p:spPr bwMode="auto"/>
        <p:txBody>
          <a:bodyPr/>
          <a:lstStyle/>
          <a:p>
            <a:pPr>
              <a:defRPr/>
            </a:pPr>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0604588" name="Slide Image Placeholder 1"/>
          <p:cNvSpPr>
            <a:spLocks noChangeAspect="1" noGrp="1" noRot="1"/>
          </p:cNvSpPr>
          <p:nvPr>
            <p:ph type="sldImg"/>
          </p:nvPr>
        </p:nvSpPr>
        <p:spPr bwMode="auto"/>
      </p:sp>
      <p:sp>
        <p:nvSpPr>
          <p:cNvPr id="184435617" name="Notes Placeholder 2"/>
          <p:cNvSpPr>
            <a:spLocks noGrp="1"/>
          </p:cNvSpPr>
          <p:nvPr>
            <p:ph type="body" idx="1"/>
          </p:nvPr>
        </p:nvSpPr>
        <p:spPr bwMode="auto"/>
        <p:txBody>
          <a:bodyPr/>
          <a:lstStyle/>
          <a:p>
            <a:pPr>
              <a:defRPr/>
            </a:pPr>
            <a:endParaRPr lang="en-US"/>
          </a:p>
        </p:txBody>
      </p:sp>
      <p:sp>
        <p:nvSpPr>
          <p:cNvPr id="401318692" name="Slide Number Placeholder 3"/>
          <p:cNvSpPr>
            <a:spLocks noGrp="1"/>
          </p:cNvSpPr>
          <p:nvPr>
            <p:ph type="sldNum" sz="quarter" idx="10"/>
          </p:nvPr>
        </p:nvSpPr>
        <p:spPr bwMode="auto"/>
        <p:txBody>
          <a:bodyPr/>
          <a:lstStyle/>
          <a:p>
            <a:pPr>
              <a:defRPr/>
            </a:pPr>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54382991" name="Slide Image Placeholder 1"/>
          <p:cNvSpPr>
            <a:spLocks noChangeAspect="1" noGrp="1" noRot="1"/>
          </p:cNvSpPr>
          <p:nvPr>
            <p:ph type="sldImg"/>
          </p:nvPr>
        </p:nvSpPr>
        <p:spPr bwMode="auto"/>
      </p:sp>
      <p:sp>
        <p:nvSpPr>
          <p:cNvPr id="770917805" name="Notes Placeholder 2"/>
          <p:cNvSpPr>
            <a:spLocks noGrp="1"/>
          </p:cNvSpPr>
          <p:nvPr>
            <p:ph type="body" idx="1"/>
          </p:nvPr>
        </p:nvSpPr>
        <p:spPr bwMode="auto"/>
        <p:txBody>
          <a:bodyPr/>
          <a:lstStyle/>
          <a:p>
            <a:pPr>
              <a:defRPr/>
            </a:pPr>
            <a:endParaRPr lang="en-US"/>
          </a:p>
        </p:txBody>
      </p:sp>
      <p:sp>
        <p:nvSpPr>
          <p:cNvPr id="1293552348" name="Slide Number Placeholder 3"/>
          <p:cNvSpPr>
            <a:spLocks noGrp="1"/>
          </p:cNvSpPr>
          <p:nvPr>
            <p:ph type="sldNum" sz="quarter" idx="10"/>
          </p:nvPr>
        </p:nvSpPr>
        <p:spPr bwMode="auto"/>
        <p:txBody>
          <a:bodyPr/>
          <a:lstStyle/>
          <a:p>
            <a:pPr>
              <a:defRPr/>
            </a:pPr>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97429067" name="Slide Image Placeholder 1"/>
          <p:cNvSpPr>
            <a:spLocks noChangeAspect="1" noGrp="1" noRot="1"/>
          </p:cNvSpPr>
          <p:nvPr>
            <p:ph type="sldImg"/>
          </p:nvPr>
        </p:nvSpPr>
        <p:spPr bwMode="auto"/>
      </p:sp>
      <p:sp>
        <p:nvSpPr>
          <p:cNvPr id="670572387" name="Notes Placeholder 2"/>
          <p:cNvSpPr>
            <a:spLocks noGrp="1"/>
          </p:cNvSpPr>
          <p:nvPr>
            <p:ph type="body" idx="1"/>
          </p:nvPr>
        </p:nvSpPr>
        <p:spPr bwMode="auto"/>
        <p:txBody>
          <a:bodyPr/>
          <a:lstStyle/>
          <a:p>
            <a:pPr>
              <a:defRPr/>
            </a:pPr>
            <a:endParaRPr lang="en-US"/>
          </a:p>
        </p:txBody>
      </p:sp>
      <p:sp>
        <p:nvSpPr>
          <p:cNvPr id="172411751" name="Slide Number Placeholder 3"/>
          <p:cNvSpPr>
            <a:spLocks noGrp="1"/>
          </p:cNvSpPr>
          <p:nvPr>
            <p:ph type="sldNum" sz="quarter" idx="10"/>
          </p:nvPr>
        </p:nvSpPr>
        <p:spPr bwMode="auto"/>
        <p:txBody>
          <a:bodyPr/>
          <a:lstStyle/>
          <a:p>
            <a:pPr>
              <a:defRPr/>
            </a:pPr>
            <a:fld id="{F7021451-1387-4CA6-816F-3879F97B5CBC}" type="slidenum">
              <a:rPr lang="en-US"/>
              <a:t>9</a:t>
            </a:fld>
            <a:endParaRPr lang="en-US"/>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DEFAULT">
    <p:bg>
      <p:bgRef idx="1001">
        <a:schemeClr val="bg1"/>
      </p:bgRef>
    </p:bg>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dt="0" ftr="0" hdr="0" sldNum="0"/>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
    <p:bg>
      <p:bgPr shadeToTitle="0">
        <a:solidFill>
          <a:srgbClr val="0D1B2A"/>
        </a:solidFill>
      </p:bgPr>
    </p:bg>
    <p:spTree>
      <p:nvGrpSpPr>
        <p:cNvPr id="1" name=""/>
        <p:cNvGrpSpPr/>
        <p:nvPr/>
      </p:nvGrpSpPr>
      <p:grpSpPr bwMode="auto">
        <a:xfrm>
          <a:off x="0" y="0"/>
          <a:ext cx="0" cy="0"/>
          <a:chOff x="0" y="0"/>
          <a:chExt cx="0" cy="0"/>
        </a:xfrm>
      </p:grpSpPr>
      <p:sp>
        <p:nvSpPr>
          <p:cNvPr id="816050969" name="Shape 0"/>
          <p:cNvSpPr/>
          <p:nvPr/>
        </p:nvSpPr>
        <p:spPr bwMode="auto">
          <a:xfrm>
            <a:off x="0" y="0"/>
            <a:ext cx="228600" cy="5143500"/>
          </a:xfrm>
          <a:prstGeom prst="rect">
            <a:avLst/>
          </a:prstGeom>
          <a:solidFill>
            <a:srgbClr val="0A9396"/>
          </a:solidFill>
          <a:ln w="12700">
            <a:solidFill>
              <a:srgbClr val="0A9396"/>
            </a:solidFill>
            <a:prstDash val="solid"/>
          </a:ln>
        </p:spPr>
      </p:sp>
      <p:sp>
        <p:nvSpPr>
          <p:cNvPr id="1442248616" name="Shape 1"/>
          <p:cNvSpPr/>
          <p:nvPr/>
        </p:nvSpPr>
        <p:spPr bwMode="auto">
          <a:xfrm>
            <a:off x="6583680" y="-548640"/>
            <a:ext cx="2926080" cy="2926080"/>
          </a:xfrm>
          <a:prstGeom prst="ellipse">
            <a:avLst/>
          </a:prstGeom>
          <a:solidFill>
            <a:srgbClr val="0A9396">
              <a:alpha val="20000"/>
            </a:srgbClr>
          </a:solidFill>
          <a:ln w="12700">
            <a:solidFill>
              <a:srgbClr val="0A9396">
                <a:alpha val="20000"/>
              </a:srgbClr>
            </a:solidFill>
            <a:prstDash val="solid"/>
          </a:ln>
        </p:spPr>
      </p:sp>
      <p:sp>
        <p:nvSpPr>
          <p:cNvPr id="767279038" name="Shape 2"/>
          <p:cNvSpPr/>
          <p:nvPr/>
        </p:nvSpPr>
        <p:spPr bwMode="auto">
          <a:xfrm>
            <a:off x="7315200" y="2926080"/>
            <a:ext cx="1828800" cy="1828800"/>
          </a:xfrm>
          <a:prstGeom prst="ellipse">
            <a:avLst/>
          </a:prstGeom>
          <a:solidFill>
            <a:srgbClr val="94D2BD">
              <a:alpha val="25000"/>
            </a:srgbClr>
          </a:solidFill>
          <a:ln w="12700">
            <a:solidFill>
              <a:srgbClr val="94D2BD">
                <a:alpha val="25000"/>
              </a:srgbClr>
            </a:solidFill>
            <a:prstDash val="solid"/>
          </a:ln>
        </p:spPr>
      </p:sp>
      <p:sp>
        <p:nvSpPr>
          <p:cNvPr id="859712071" name="Text 3"/>
          <p:cNvSpPr/>
          <p:nvPr/>
        </p:nvSpPr>
        <p:spPr bwMode="auto">
          <a:xfrm>
            <a:off x="502920" y="1005840"/>
            <a:ext cx="6400800" cy="1737360"/>
          </a:xfrm>
          <a:prstGeom prst="rect">
            <a:avLst/>
          </a:prstGeom>
          <a:noFill/>
          <a:ln/>
        </p:spPr>
        <p:txBody>
          <a:bodyPr wrap="square" rtlCol="0" anchor="t"/>
          <a:lstStyle/>
          <a:p>
            <a:pPr marL="0" indent="0" algn="l">
              <a:buNone/>
              <a:defRPr/>
            </a:pPr>
            <a:r>
              <a:rPr lang="en-US" sz="4200" b="1">
                <a:solidFill>
                  <a:srgbClr val="FFFFFF"/>
                </a:solidFill>
                <a:latin typeface="Calibri"/>
                <a:ea typeface="Calibri"/>
                <a:cs typeface="Calibri"/>
              </a:rPr>
              <a:t>Sleep Disorder</a:t>
            </a:r>
            <a:endParaRPr lang="en-US" sz="4200"/>
          </a:p>
          <a:p>
            <a:pPr marL="0" indent="0" algn="l">
              <a:buNone/>
              <a:defRPr/>
            </a:pPr>
            <a:r>
              <a:rPr lang="en-US" sz="4200" b="1">
                <a:solidFill>
                  <a:srgbClr val="FFFFFF"/>
                </a:solidFill>
                <a:latin typeface="Calibri"/>
                <a:ea typeface="Calibri"/>
                <a:cs typeface="Calibri"/>
              </a:rPr>
              <a:t>Classification</a:t>
            </a:r>
            <a:endParaRPr lang="en-US" sz="4200"/>
          </a:p>
        </p:txBody>
      </p:sp>
      <p:sp>
        <p:nvSpPr>
          <p:cNvPr id="1286995850" name="Text 4"/>
          <p:cNvSpPr/>
          <p:nvPr/>
        </p:nvSpPr>
        <p:spPr bwMode="auto">
          <a:xfrm>
            <a:off x="502920" y="2788920"/>
            <a:ext cx="6217920" cy="548640"/>
          </a:xfrm>
          <a:prstGeom prst="rect">
            <a:avLst/>
          </a:prstGeom>
          <a:noFill/>
          <a:ln/>
        </p:spPr>
        <p:txBody>
          <a:bodyPr wrap="square" rtlCol="0" anchor="ctr"/>
          <a:lstStyle/>
          <a:p>
            <a:pPr marL="0" indent="0" algn="l">
              <a:buNone/>
              <a:defRPr/>
            </a:pPr>
            <a:r>
              <a:rPr lang="en-US" sz="1500">
                <a:solidFill>
                  <a:srgbClr val="94D2BD"/>
                </a:solidFill>
                <a:latin typeface="Calibri"/>
                <a:ea typeface="Calibri"/>
                <a:cs typeface="Calibri"/>
              </a:rPr>
              <a:t>Using Random Forest &amp; XGBoost on the Sleep Health and Lifestyle Dataset</a:t>
            </a:r>
            <a:endParaRPr lang="en-US" sz="1500"/>
          </a:p>
        </p:txBody>
      </p:sp>
      <p:sp>
        <p:nvSpPr>
          <p:cNvPr id="1132390552" name="Shape 5"/>
          <p:cNvSpPr/>
          <p:nvPr/>
        </p:nvSpPr>
        <p:spPr bwMode="auto">
          <a:xfrm>
            <a:off x="502920" y="2651760"/>
            <a:ext cx="4114800" cy="36576"/>
          </a:xfrm>
          <a:prstGeom prst="rect">
            <a:avLst/>
          </a:prstGeom>
          <a:solidFill>
            <a:srgbClr val="0A9396"/>
          </a:solidFill>
          <a:ln w="12700">
            <a:solidFill>
              <a:srgbClr val="0A9396"/>
            </a:solidFill>
            <a:prstDash val="solid"/>
          </a:ln>
        </p:spPr>
      </p:sp>
      <p:sp>
        <p:nvSpPr>
          <p:cNvPr id="1169507770" name="Text 6"/>
          <p:cNvSpPr/>
          <p:nvPr/>
        </p:nvSpPr>
        <p:spPr bwMode="auto">
          <a:xfrm>
            <a:off x="502920" y="4251960"/>
            <a:ext cx="5486400" cy="320040"/>
          </a:xfrm>
          <a:prstGeom prst="rect">
            <a:avLst/>
          </a:prstGeom>
          <a:noFill/>
          <a:ln/>
        </p:spPr>
        <p:txBody>
          <a:bodyPr wrap="square" rtlCol="0" anchor="ctr"/>
          <a:lstStyle/>
          <a:p>
            <a:pPr marL="0" indent="0" algn="l">
              <a:buNone/>
              <a:defRPr/>
            </a:pPr>
            <a:r>
              <a:rPr lang="en-US" sz="1100">
                <a:solidFill>
                  <a:srgbClr val="64748B"/>
                </a:solidFill>
              </a:rPr>
              <a:t>John Pierre | Final Project  |  ITAI 1371 |  May 2025</a:t>
            </a:r>
            <a:endParaRPr lang="en-US" sz="11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
    <p:bg>
      <p:bgPr shadeToTitle="0">
        <a:solidFill>
          <a:srgbClr val="FFFFFF"/>
        </a:solidFill>
      </p:bgPr>
    </p:bg>
    <p:spTree>
      <p:nvGrpSpPr>
        <p:cNvPr id="1" name=""/>
        <p:cNvGrpSpPr/>
        <p:nvPr/>
      </p:nvGrpSpPr>
      <p:grpSpPr bwMode="auto">
        <a:xfrm>
          <a:off x="0" y="0"/>
          <a:ext cx="0" cy="0"/>
          <a:chOff x="0" y="0"/>
          <a:chExt cx="0" cy="0"/>
        </a:xfrm>
      </p:grpSpPr>
      <p:sp>
        <p:nvSpPr>
          <p:cNvPr id="881314097" name="Shape 0"/>
          <p:cNvSpPr/>
          <p:nvPr/>
        </p:nvSpPr>
        <p:spPr bwMode="auto">
          <a:xfrm>
            <a:off x="0" y="0"/>
            <a:ext cx="9144000" cy="658368"/>
          </a:xfrm>
          <a:prstGeom prst="rect">
            <a:avLst/>
          </a:prstGeom>
          <a:solidFill>
            <a:srgbClr val="0D1B2A"/>
          </a:solidFill>
          <a:ln w="12700">
            <a:solidFill>
              <a:srgbClr val="0D1B2A"/>
            </a:solidFill>
            <a:prstDash val="solid"/>
          </a:ln>
        </p:spPr>
      </p:sp>
      <p:sp>
        <p:nvSpPr>
          <p:cNvPr id="498727791" name="Shape 1"/>
          <p:cNvSpPr/>
          <p:nvPr/>
        </p:nvSpPr>
        <p:spPr bwMode="auto">
          <a:xfrm>
            <a:off x="411480" y="118872"/>
            <a:ext cx="347472" cy="347472"/>
          </a:xfrm>
          <a:prstGeom prst="rect">
            <a:avLst/>
          </a:prstGeom>
          <a:solidFill>
            <a:srgbClr val="0A9396"/>
          </a:solidFill>
          <a:ln w="12700">
            <a:solidFill>
              <a:srgbClr val="0A9396"/>
            </a:solidFill>
            <a:prstDash val="solid"/>
          </a:ln>
        </p:spPr>
      </p:sp>
      <p:sp>
        <p:nvSpPr>
          <p:cNvPr id="431075186" name="Text 2"/>
          <p:cNvSpPr/>
          <p:nvPr/>
        </p:nvSpPr>
        <p:spPr bwMode="auto">
          <a:xfrm>
            <a:off x="411480" y="118872"/>
            <a:ext cx="347472" cy="347472"/>
          </a:xfrm>
          <a:prstGeom prst="rect">
            <a:avLst/>
          </a:prstGeom>
          <a:noFill/>
          <a:ln/>
        </p:spPr>
        <p:txBody>
          <a:bodyPr wrap="square" lIns="0" tIns="0" rIns="0" bIns="0" rtlCol="0" anchor="ctr"/>
          <a:lstStyle/>
          <a:p>
            <a:pPr marL="0" indent="0" algn="ctr">
              <a:buNone/>
              <a:defRPr/>
            </a:pPr>
            <a:r>
              <a:rPr lang="en-US" sz="1400" b="1">
                <a:solidFill>
                  <a:srgbClr val="FFFFFF"/>
                </a:solidFill>
              </a:rPr>
              <a:t>1</a:t>
            </a:r>
            <a:endParaRPr lang="en-US" sz="1400"/>
          </a:p>
        </p:txBody>
      </p:sp>
      <p:sp>
        <p:nvSpPr>
          <p:cNvPr id="1598249554" name="Text 3"/>
          <p:cNvSpPr/>
          <p:nvPr/>
        </p:nvSpPr>
        <p:spPr bwMode="auto">
          <a:xfrm>
            <a:off x="868680" y="118872"/>
            <a:ext cx="8046720" cy="347472"/>
          </a:xfrm>
          <a:prstGeom prst="rect">
            <a:avLst/>
          </a:prstGeom>
          <a:noFill/>
          <a:ln/>
        </p:spPr>
        <p:txBody>
          <a:bodyPr wrap="square" lIns="0" tIns="0" rIns="0" bIns="0" rtlCol="0" anchor="ctr"/>
          <a:lstStyle/>
          <a:p>
            <a:pPr marL="0" indent="0">
              <a:buNone/>
              <a:defRPr/>
            </a:pPr>
            <a:r>
              <a:rPr lang="en-US" sz="1800" b="1">
                <a:solidFill>
                  <a:srgbClr val="FFFFFF"/>
                </a:solidFill>
              </a:rPr>
              <a:t>Motivation</a:t>
            </a:r>
            <a:endParaRPr lang="en-US" sz="1800"/>
          </a:p>
        </p:txBody>
      </p:sp>
      <p:sp>
        <p:nvSpPr>
          <p:cNvPr id="1197562667" name="Shape 4"/>
          <p:cNvSpPr/>
          <p:nvPr/>
        </p:nvSpPr>
        <p:spPr bwMode="auto">
          <a:xfrm>
            <a:off x="0" y="4937760"/>
            <a:ext cx="9144000" cy="201168"/>
          </a:xfrm>
          <a:prstGeom prst="rect">
            <a:avLst/>
          </a:prstGeom>
          <a:solidFill>
            <a:srgbClr val="0A9396"/>
          </a:solidFill>
          <a:ln w="12700">
            <a:solidFill>
              <a:srgbClr val="0A9396"/>
            </a:solidFill>
            <a:prstDash val="solid"/>
          </a:ln>
        </p:spPr>
      </p:sp>
      <p:sp>
        <p:nvSpPr>
          <p:cNvPr id="1776128774" name="Text 5"/>
          <p:cNvSpPr/>
          <p:nvPr/>
        </p:nvSpPr>
        <p:spPr bwMode="auto">
          <a:xfrm>
            <a:off x="274320" y="4937760"/>
            <a:ext cx="8595360" cy="201168"/>
          </a:xfrm>
          <a:prstGeom prst="rect">
            <a:avLst/>
          </a:prstGeom>
          <a:noFill/>
          <a:ln/>
        </p:spPr>
        <p:txBody>
          <a:bodyPr wrap="square" lIns="0" tIns="0" rIns="0" bIns="0" rtlCol="0" anchor="ctr"/>
          <a:lstStyle/>
          <a:p>
            <a:pPr marL="0" indent="0">
              <a:buNone/>
              <a:defRPr/>
            </a:pPr>
            <a:r>
              <a:rPr lang="en-US" sz="800">
                <a:solidFill>
                  <a:srgbClr val="FFFFFF"/>
                </a:solidFill>
              </a:rPr>
              <a:t>Sleep Disorder Classification  |  Final Project</a:t>
            </a:r>
            <a:endParaRPr lang="en-US" sz="800"/>
          </a:p>
        </p:txBody>
      </p:sp>
      <p:sp>
        <p:nvSpPr>
          <p:cNvPr id="603039427" name="Text 6"/>
          <p:cNvSpPr/>
          <p:nvPr/>
        </p:nvSpPr>
        <p:spPr bwMode="auto">
          <a:xfrm>
            <a:off x="457200" y="713232"/>
            <a:ext cx="8229600" cy="274320"/>
          </a:xfrm>
          <a:prstGeom prst="rect">
            <a:avLst/>
          </a:prstGeom>
          <a:noFill/>
          <a:ln/>
        </p:spPr>
        <p:txBody>
          <a:bodyPr wrap="square" rtlCol="0" anchor="ctr"/>
          <a:lstStyle/>
          <a:p>
            <a:pPr marL="0" indent="0">
              <a:buNone/>
              <a:defRPr/>
            </a:pPr>
            <a:r>
              <a:rPr lang="en-US" sz="1000" i="1">
                <a:solidFill>
                  <a:srgbClr val="64748B"/>
                </a:solidFill>
              </a:rPr>
              <a:t>Why did we choose this problem?</a:t>
            </a:r>
            <a:endParaRPr lang="en-US" sz="1000"/>
          </a:p>
        </p:txBody>
      </p:sp>
      <p:sp>
        <p:nvSpPr>
          <p:cNvPr id="944890960" name="Shape 7"/>
          <p:cNvSpPr/>
          <p:nvPr/>
        </p:nvSpPr>
        <p:spPr bwMode="auto">
          <a:xfrm>
            <a:off x="365760" y="1051560"/>
            <a:ext cx="2606040" cy="3566160"/>
          </a:xfrm>
          <a:prstGeom prst="rect">
            <a:avLst/>
          </a:prstGeom>
          <a:solidFill>
            <a:srgbClr val="E9F5F6"/>
          </a:solidFill>
          <a:ln w="12700">
            <a:solidFill>
              <a:srgbClr val="94D2BD"/>
            </a:solidFill>
            <a:prstDash val="solid"/>
          </a:ln>
          <a:effectLst>
            <a:outerShdw blurRad="101600" dist="38100" dir="8100000" sx="100000" sy="100000" kx="0" ky="0" algn="bl" rotWithShape="0">
              <a:srgbClr val="000000">
                <a:alpha val="13000"/>
              </a:srgbClr>
            </a:outerShdw>
          </a:effectLst>
        </p:spPr>
      </p:sp>
      <p:sp>
        <p:nvSpPr>
          <p:cNvPr id="1902743823" name="Shape 8"/>
          <p:cNvSpPr/>
          <p:nvPr/>
        </p:nvSpPr>
        <p:spPr bwMode="auto">
          <a:xfrm>
            <a:off x="365760" y="1051560"/>
            <a:ext cx="2606040" cy="91440"/>
          </a:xfrm>
          <a:prstGeom prst="rect">
            <a:avLst/>
          </a:prstGeom>
          <a:solidFill>
            <a:srgbClr val="0A9396"/>
          </a:solidFill>
          <a:ln w="12700">
            <a:solidFill>
              <a:srgbClr val="0A9396"/>
            </a:solidFill>
            <a:prstDash val="solid"/>
          </a:ln>
        </p:spPr>
      </p:sp>
      <p:sp>
        <p:nvSpPr>
          <p:cNvPr id="1705414978" name="Text 9"/>
          <p:cNvSpPr/>
          <p:nvPr/>
        </p:nvSpPr>
        <p:spPr bwMode="auto">
          <a:xfrm>
            <a:off x="365760" y="1188720"/>
            <a:ext cx="2606040" cy="548640"/>
          </a:xfrm>
          <a:prstGeom prst="rect">
            <a:avLst/>
          </a:prstGeom>
          <a:noFill/>
          <a:ln/>
        </p:spPr>
        <p:txBody>
          <a:bodyPr wrap="square" rtlCol="0" anchor="ctr"/>
          <a:lstStyle/>
          <a:p>
            <a:pPr marL="0" indent="0" algn="ctr">
              <a:buNone/>
              <a:defRPr/>
            </a:pPr>
            <a:r>
              <a:rPr lang="en-US" sz="2800">
                <a:solidFill>
                  <a:srgbClr val="000000"/>
                </a:solidFill>
              </a:rPr>
              <a:t>💤</a:t>
            </a:r>
            <a:endParaRPr lang="en-US" sz="2800"/>
          </a:p>
        </p:txBody>
      </p:sp>
      <p:sp>
        <p:nvSpPr>
          <p:cNvPr id="502601087" name="Text 10"/>
          <p:cNvSpPr/>
          <p:nvPr/>
        </p:nvSpPr>
        <p:spPr bwMode="auto">
          <a:xfrm>
            <a:off x="457200" y="1783080"/>
            <a:ext cx="2423160" cy="347472"/>
          </a:xfrm>
          <a:prstGeom prst="rect">
            <a:avLst/>
          </a:prstGeom>
          <a:noFill/>
          <a:ln/>
        </p:spPr>
        <p:txBody>
          <a:bodyPr wrap="square" rtlCol="0" anchor="ctr"/>
          <a:lstStyle/>
          <a:p>
            <a:pPr marL="0" indent="0" algn="ctr">
              <a:buNone/>
              <a:defRPr/>
            </a:pPr>
            <a:r>
              <a:rPr lang="en-US" sz="1400" b="1">
                <a:solidFill>
                  <a:srgbClr val="0D1B2A"/>
                </a:solidFill>
              </a:rPr>
              <a:t>Prevalence</a:t>
            </a:r>
            <a:endParaRPr lang="en-US" sz="1400"/>
          </a:p>
        </p:txBody>
      </p:sp>
      <p:sp>
        <p:nvSpPr>
          <p:cNvPr id="513527273" name="Text 11"/>
          <p:cNvSpPr/>
          <p:nvPr/>
        </p:nvSpPr>
        <p:spPr bwMode="auto">
          <a:xfrm>
            <a:off x="502920" y="2176272"/>
            <a:ext cx="2331720" cy="2286000"/>
          </a:xfrm>
          <a:prstGeom prst="rect">
            <a:avLst/>
          </a:prstGeom>
          <a:noFill/>
          <a:ln/>
        </p:spPr>
        <p:txBody>
          <a:bodyPr wrap="square" rtlCol="0" anchor="t"/>
          <a:lstStyle/>
          <a:p>
            <a:pPr marL="0" indent="0" algn="l">
              <a:buNone/>
              <a:defRPr/>
            </a:pPr>
            <a:r>
              <a:rPr lang="en-US" sz="1100">
                <a:solidFill>
                  <a:srgbClr val="1E293B"/>
                </a:solidFill>
              </a:rPr>
              <a:t>Sleep disorders affect over 70 million Americans annually, with many cases undiagnosed or misdiagnosed by traditional screening methods.</a:t>
            </a:r>
            <a:r>
              <a:rPr lang="en-US" sz="1100"/>
              <a:t> Traditional “Hustle” culture is a misguided social norm.</a:t>
            </a:r>
            <a:endParaRPr lang="en-US" sz="1100"/>
          </a:p>
        </p:txBody>
      </p:sp>
      <p:sp>
        <p:nvSpPr>
          <p:cNvPr id="1162784591" name="Shape 12"/>
          <p:cNvSpPr/>
          <p:nvPr/>
        </p:nvSpPr>
        <p:spPr bwMode="auto">
          <a:xfrm>
            <a:off x="3218688" y="1051560"/>
            <a:ext cx="2606040" cy="3566160"/>
          </a:xfrm>
          <a:prstGeom prst="rect">
            <a:avLst/>
          </a:prstGeom>
          <a:solidFill>
            <a:srgbClr val="E9F5F6"/>
          </a:solidFill>
          <a:ln w="12700">
            <a:solidFill>
              <a:srgbClr val="94D2BD"/>
            </a:solidFill>
            <a:prstDash val="solid"/>
          </a:ln>
          <a:effectLst>
            <a:outerShdw blurRad="101600" dist="38100" dir="8100000" sx="100000" sy="100000" kx="0" ky="0" algn="bl" rotWithShape="0">
              <a:srgbClr val="000000">
                <a:alpha val="13000"/>
              </a:srgbClr>
            </a:outerShdw>
          </a:effectLst>
        </p:spPr>
      </p:sp>
      <p:sp>
        <p:nvSpPr>
          <p:cNvPr id="2142209630" name="Shape 13"/>
          <p:cNvSpPr/>
          <p:nvPr/>
        </p:nvSpPr>
        <p:spPr bwMode="auto">
          <a:xfrm>
            <a:off x="3218688" y="1051560"/>
            <a:ext cx="2606040" cy="91440"/>
          </a:xfrm>
          <a:prstGeom prst="rect">
            <a:avLst/>
          </a:prstGeom>
          <a:solidFill>
            <a:srgbClr val="0A9396"/>
          </a:solidFill>
          <a:ln w="12700">
            <a:solidFill>
              <a:srgbClr val="0A9396"/>
            </a:solidFill>
            <a:prstDash val="solid"/>
          </a:ln>
        </p:spPr>
      </p:sp>
      <p:sp>
        <p:nvSpPr>
          <p:cNvPr id="1848921212" name="Text 14"/>
          <p:cNvSpPr/>
          <p:nvPr/>
        </p:nvSpPr>
        <p:spPr bwMode="auto">
          <a:xfrm>
            <a:off x="3218688" y="1188720"/>
            <a:ext cx="2606040" cy="548640"/>
          </a:xfrm>
          <a:prstGeom prst="rect">
            <a:avLst/>
          </a:prstGeom>
          <a:noFill/>
          <a:ln/>
        </p:spPr>
        <p:txBody>
          <a:bodyPr wrap="square" rtlCol="0" anchor="ctr"/>
          <a:lstStyle/>
          <a:p>
            <a:pPr marL="0" indent="0" algn="ctr">
              <a:buNone/>
              <a:defRPr/>
            </a:pPr>
            <a:r>
              <a:rPr lang="en-US" sz="2800">
                <a:solidFill>
                  <a:srgbClr val="000000"/>
                </a:solidFill>
              </a:rPr>
              <a:t>🏥</a:t>
            </a:r>
            <a:endParaRPr lang="en-US" sz="2800"/>
          </a:p>
        </p:txBody>
      </p:sp>
      <p:sp>
        <p:nvSpPr>
          <p:cNvPr id="1377099430" name="Text 15"/>
          <p:cNvSpPr/>
          <p:nvPr/>
        </p:nvSpPr>
        <p:spPr bwMode="auto">
          <a:xfrm>
            <a:off x="3310127" y="1783080"/>
            <a:ext cx="2423160" cy="347472"/>
          </a:xfrm>
          <a:prstGeom prst="rect">
            <a:avLst/>
          </a:prstGeom>
          <a:noFill/>
          <a:ln/>
        </p:spPr>
        <p:txBody>
          <a:bodyPr wrap="square" rtlCol="0" anchor="ctr"/>
          <a:lstStyle/>
          <a:p>
            <a:pPr marL="0" indent="0" algn="ctr">
              <a:buNone/>
              <a:defRPr/>
            </a:pPr>
            <a:r>
              <a:rPr lang="en-US" sz="1400" b="1">
                <a:solidFill>
                  <a:srgbClr val="0D1B2A"/>
                </a:solidFill>
              </a:rPr>
              <a:t>Clinical Impact</a:t>
            </a:r>
            <a:endParaRPr lang="en-US" sz="1400"/>
          </a:p>
        </p:txBody>
      </p:sp>
      <p:sp>
        <p:nvSpPr>
          <p:cNvPr id="1519397182" name="Text 16"/>
          <p:cNvSpPr/>
          <p:nvPr/>
        </p:nvSpPr>
        <p:spPr bwMode="auto">
          <a:xfrm>
            <a:off x="3355848" y="2176272"/>
            <a:ext cx="2331720" cy="2286000"/>
          </a:xfrm>
          <a:prstGeom prst="rect">
            <a:avLst/>
          </a:prstGeom>
          <a:noFill/>
          <a:ln/>
        </p:spPr>
        <p:txBody>
          <a:bodyPr wrap="square" rtlCol="0" anchor="t"/>
          <a:lstStyle/>
          <a:p>
            <a:pPr marL="0" indent="0" algn="l">
              <a:buNone/>
              <a:defRPr/>
            </a:pPr>
            <a:r>
              <a:rPr lang="en-US" sz="1100">
                <a:solidFill>
                  <a:srgbClr val="1E293B"/>
                </a:solidFill>
              </a:rPr>
              <a:t>Untreated insomnia and sleep apnea are linked to cardiovascular disease, depression, and reduced workplace productivity. </a:t>
            </a:r>
            <a:endParaRPr lang="en-US" sz="1100"/>
          </a:p>
        </p:txBody>
      </p:sp>
      <p:sp>
        <p:nvSpPr>
          <p:cNvPr id="1719023630" name="Shape 17"/>
          <p:cNvSpPr/>
          <p:nvPr/>
        </p:nvSpPr>
        <p:spPr bwMode="auto">
          <a:xfrm>
            <a:off x="6071616" y="1051560"/>
            <a:ext cx="2606040" cy="3566160"/>
          </a:xfrm>
          <a:prstGeom prst="rect">
            <a:avLst/>
          </a:prstGeom>
          <a:solidFill>
            <a:srgbClr val="E9F5F6"/>
          </a:solidFill>
          <a:ln w="12700">
            <a:solidFill>
              <a:srgbClr val="94D2BD"/>
            </a:solidFill>
            <a:prstDash val="solid"/>
          </a:ln>
          <a:effectLst>
            <a:outerShdw blurRad="101600" dist="38100" dir="8100000" sx="100000" sy="100000" kx="0" ky="0" algn="bl" rotWithShape="0">
              <a:srgbClr val="000000">
                <a:alpha val="13000"/>
              </a:srgbClr>
            </a:outerShdw>
          </a:effectLst>
        </p:spPr>
      </p:sp>
      <p:sp>
        <p:nvSpPr>
          <p:cNvPr id="138235345" name="Shape 18"/>
          <p:cNvSpPr/>
          <p:nvPr/>
        </p:nvSpPr>
        <p:spPr bwMode="auto">
          <a:xfrm>
            <a:off x="6071616" y="1051560"/>
            <a:ext cx="2606040" cy="91440"/>
          </a:xfrm>
          <a:prstGeom prst="rect">
            <a:avLst/>
          </a:prstGeom>
          <a:solidFill>
            <a:srgbClr val="0A9396"/>
          </a:solidFill>
          <a:ln w="12700">
            <a:solidFill>
              <a:srgbClr val="0A9396"/>
            </a:solidFill>
            <a:prstDash val="solid"/>
          </a:ln>
        </p:spPr>
      </p:sp>
      <p:sp>
        <p:nvSpPr>
          <p:cNvPr id="1324129184" name="Text 19"/>
          <p:cNvSpPr/>
          <p:nvPr/>
        </p:nvSpPr>
        <p:spPr bwMode="auto">
          <a:xfrm>
            <a:off x="6071616" y="1188720"/>
            <a:ext cx="2606040" cy="548640"/>
          </a:xfrm>
          <a:prstGeom prst="rect">
            <a:avLst/>
          </a:prstGeom>
          <a:noFill/>
          <a:ln/>
        </p:spPr>
        <p:txBody>
          <a:bodyPr wrap="square" rtlCol="0" anchor="ctr"/>
          <a:lstStyle/>
          <a:p>
            <a:pPr marL="0" indent="0" algn="ctr">
              <a:buNone/>
              <a:defRPr/>
            </a:pPr>
            <a:r>
              <a:rPr lang="en-US" sz="2800">
                <a:solidFill>
                  <a:srgbClr val="000000"/>
                </a:solidFill>
              </a:rPr>
              <a:t>🤖</a:t>
            </a:r>
            <a:endParaRPr lang="en-US" sz="2800"/>
          </a:p>
        </p:txBody>
      </p:sp>
      <p:sp>
        <p:nvSpPr>
          <p:cNvPr id="2077515353" name="Text 20"/>
          <p:cNvSpPr/>
          <p:nvPr/>
        </p:nvSpPr>
        <p:spPr bwMode="auto">
          <a:xfrm>
            <a:off x="6163056" y="1783080"/>
            <a:ext cx="2423160" cy="347472"/>
          </a:xfrm>
          <a:prstGeom prst="rect">
            <a:avLst/>
          </a:prstGeom>
          <a:noFill/>
          <a:ln/>
        </p:spPr>
        <p:txBody>
          <a:bodyPr wrap="square" rtlCol="0" anchor="ctr"/>
          <a:lstStyle/>
          <a:p>
            <a:pPr marL="0" indent="0" algn="ctr">
              <a:buNone/>
              <a:defRPr/>
            </a:pPr>
            <a:r>
              <a:rPr lang="en-US" sz="1400" b="1">
                <a:solidFill>
                  <a:srgbClr val="0D1B2A"/>
                </a:solidFill>
              </a:rPr>
              <a:t>ML Opportunity</a:t>
            </a:r>
            <a:endParaRPr lang="en-US" sz="1400"/>
          </a:p>
        </p:txBody>
      </p:sp>
      <p:sp>
        <p:nvSpPr>
          <p:cNvPr id="540088791" name="Text 21"/>
          <p:cNvSpPr/>
          <p:nvPr/>
        </p:nvSpPr>
        <p:spPr bwMode="auto">
          <a:xfrm>
            <a:off x="6208776" y="2176272"/>
            <a:ext cx="2331720" cy="2286000"/>
          </a:xfrm>
          <a:prstGeom prst="rect">
            <a:avLst/>
          </a:prstGeom>
          <a:noFill/>
          <a:ln/>
        </p:spPr>
        <p:txBody>
          <a:bodyPr wrap="square" rtlCol="0" anchor="t"/>
          <a:lstStyle/>
          <a:p>
            <a:pPr marL="0" indent="0" algn="l">
              <a:buNone/>
              <a:defRPr/>
            </a:pPr>
            <a:r>
              <a:rPr lang="en-US" sz="1100">
                <a:solidFill>
                  <a:srgbClr val="1E293B"/>
                </a:solidFill>
              </a:rPr>
              <a:t>Lifestyle and health features collected by wearables and surveys make sleep disorder prediction an ideal machine learning use case.</a:t>
            </a:r>
            <a:endParaRPr lang="en-US" sz="11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
    <p:bg>
      <p:bgPr shadeToTitle="0">
        <a:solidFill>
          <a:srgbClr val="FFFFFF"/>
        </a:solidFill>
      </p:bgPr>
    </p:bg>
    <p:spTree>
      <p:nvGrpSpPr>
        <p:cNvPr id="1" name=""/>
        <p:cNvGrpSpPr/>
        <p:nvPr/>
      </p:nvGrpSpPr>
      <p:grpSpPr bwMode="auto">
        <a:xfrm>
          <a:off x="0" y="0"/>
          <a:ext cx="0" cy="0"/>
          <a:chOff x="0" y="0"/>
          <a:chExt cx="0" cy="0"/>
        </a:xfrm>
      </p:grpSpPr>
      <p:sp>
        <p:nvSpPr>
          <p:cNvPr id="384133417" name="Shape 0"/>
          <p:cNvSpPr/>
          <p:nvPr/>
        </p:nvSpPr>
        <p:spPr bwMode="auto">
          <a:xfrm>
            <a:off x="0" y="0"/>
            <a:ext cx="9144000" cy="658368"/>
          </a:xfrm>
          <a:prstGeom prst="rect">
            <a:avLst/>
          </a:prstGeom>
          <a:solidFill>
            <a:srgbClr val="0D1B2A"/>
          </a:solidFill>
          <a:ln w="12700">
            <a:solidFill>
              <a:srgbClr val="0D1B2A"/>
            </a:solidFill>
            <a:prstDash val="solid"/>
          </a:ln>
        </p:spPr>
      </p:sp>
      <p:sp>
        <p:nvSpPr>
          <p:cNvPr id="107893993" name="Shape 1"/>
          <p:cNvSpPr/>
          <p:nvPr/>
        </p:nvSpPr>
        <p:spPr bwMode="auto">
          <a:xfrm>
            <a:off x="411480" y="118872"/>
            <a:ext cx="347472" cy="347472"/>
          </a:xfrm>
          <a:prstGeom prst="rect">
            <a:avLst/>
          </a:prstGeom>
          <a:solidFill>
            <a:srgbClr val="0A9396"/>
          </a:solidFill>
          <a:ln w="12700">
            <a:solidFill>
              <a:srgbClr val="0A9396"/>
            </a:solidFill>
            <a:prstDash val="solid"/>
          </a:ln>
        </p:spPr>
      </p:sp>
      <p:sp>
        <p:nvSpPr>
          <p:cNvPr id="2094963626" name="Text 2"/>
          <p:cNvSpPr/>
          <p:nvPr/>
        </p:nvSpPr>
        <p:spPr bwMode="auto">
          <a:xfrm>
            <a:off x="411480" y="118872"/>
            <a:ext cx="347472" cy="347472"/>
          </a:xfrm>
          <a:prstGeom prst="rect">
            <a:avLst/>
          </a:prstGeom>
          <a:noFill/>
          <a:ln/>
        </p:spPr>
        <p:txBody>
          <a:bodyPr wrap="square" lIns="0" tIns="0" rIns="0" bIns="0" rtlCol="0" anchor="ctr"/>
          <a:lstStyle/>
          <a:p>
            <a:pPr marL="0" indent="0" algn="ctr">
              <a:buNone/>
              <a:defRPr/>
            </a:pPr>
            <a:r>
              <a:rPr lang="en-US" sz="1400" b="1">
                <a:solidFill>
                  <a:srgbClr val="FFFFFF"/>
                </a:solidFill>
              </a:rPr>
              <a:t>2</a:t>
            </a:r>
            <a:endParaRPr lang="en-US" sz="1400"/>
          </a:p>
        </p:txBody>
      </p:sp>
      <p:sp>
        <p:nvSpPr>
          <p:cNvPr id="154640380" name="Text 3"/>
          <p:cNvSpPr/>
          <p:nvPr/>
        </p:nvSpPr>
        <p:spPr bwMode="auto">
          <a:xfrm>
            <a:off x="868680" y="118872"/>
            <a:ext cx="8046720" cy="347472"/>
          </a:xfrm>
          <a:prstGeom prst="rect">
            <a:avLst/>
          </a:prstGeom>
          <a:noFill/>
          <a:ln/>
        </p:spPr>
        <p:txBody>
          <a:bodyPr wrap="square" lIns="0" tIns="0" rIns="0" bIns="0" rtlCol="0" anchor="ctr"/>
          <a:lstStyle/>
          <a:p>
            <a:pPr marL="0" indent="0">
              <a:buNone/>
              <a:defRPr/>
            </a:pPr>
            <a:r>
              <a:rPr lang="en-US" sz="1800" b="1">
                <a:solidFill>
                  <a:srgbClr val="FFFFFF"/>
                </a:solidFill>
              </a:rPr>
              <a:t>Introduction</a:t>
            </a:r>
            <a:endParaRPr lang="en-US" sz="1800"/>
          </a:p>
        </p:txBody>
      </p:sp>
      <p:sp>
        <p:nvSpPr>
          <p:cNvPr id="1696718535" name="Shape 4"/>
          <p:cNvSpPr/>
          <p:nvPr/>
        </p:nvSpPr>
        <p:spPr bwMode="auto">
          <a:xfrm>
            <a:off x="0" y="4937760"/>
            <a:ext cx="9144000" cy="201168"/>
          </a:xfrm>
          <a:prstGeom prst="rect">
            <a:avLst/>
          </a:prstGeom>
          <a:solidFill>
            <a:srgbClr val="0A9396"/>
          </a:solidFill>
          <a:ln w="12700">
            <a:solidFill>
              <a:srgbClr val="0A9396"/>
            </a:solidFill>
            <a:prstDash val="solid"/>
          </a:ln>
        </p:spPr>
      </p:sp>
      <p:sp>
        <p:nvSpPr>
          <p:cNvPr id="1658734930" name="Text 5"/>
          <p:cNvSpPr/>
          <p:nvPr/>
        </p:nvSpPr>
        <p:spPr bwMode="auto">
          <a:xfrm>
            <a:off x="274320" y="4937760"/>
            <a:ext cx="8595360" cy="201168"/>
          </a:xfrm>
          <a:prstGeom prst="rect">
            <a:avLst/>
          </a:prstGeom>
          <a:noFill/>
          <a:ln/>
        </p:spPr>
        <p:txBody>
          <a:bodyPr wrap="square" lIns="0" tIns="0" rIns="0" bIns="0" rtlCol="0" anchor="ctr"/>
          <a:lstStyle/>
          <a:p>
            <a:pPr marL="0" indent="0">
              <a:buNone/>
              <a:defRPr/>
            </a:pPr>
            <a:r>
              <a:rPr lang="en-US" sz="800">
                <a:solidFill>
                  <a:srgbClr val="FFFFFF"/>
                </a:solidFill>
              </a:rPr>
              <a:t>Sleep Disorder Classification  |  Final Project</a:t>
            </a:r>
            <a:endParaRPr lang="en-US" sz="800"/>
          </a:p>
        </p:txBody>
      </p:sp>
      <p:sp>
        <p:nvSpPr>
          <p:cNvPr id="151915490" name="Text 6"/>
          <p:cNvSpPr/>
          <p:nvPr/>
        </p:nvSpPr>
        <p:spPr bwMode="auto">
          <a:xfrm>
            <a:off x="457200" y="713232"/>
            <a:ext cx="8229600" cy="274320"/>
          </a:xfrm>
          <a:prstGeom prst="rect">
            <a:avLst/>
          </a:prstGeom>
          <a:noFill/>
          <a:ln/>
        </p:spPr>
        <p:txBody>
          <a:bodyPr wrap="square" rtlCol="0" anchor="ctr"/>
          <a:lstStyle/>
          <a:p>
            <a:pPr marL="0" indent="0">
              <a:buNone/>
              <a:defRPr/>
            </a:pPr>
            <a:r>
              <a:rPr lang="en-US" sz="1000" i="1">
                <a:solidFill>
                  <a:srgbClr val="64748B"/>
                </a:solidFill>
              </a:rPr>
              <a:t>What are we trying to solve?</a:t>
            </a:r>
            <a:endParaRPr lang="en-US" sz="1000"/>
          </a:p>
        </p:txBody>
      </p:sp>
      <p:sp>
        <p:nvSpPr>
          <p:cNvPr id="1654428945" name="Shape 7"/>
          <p:cNvSpPr/>
          <p:nvPr/>
        </p:nvSpPr>
        <p:spPr bwMode="auto">
          <a:xfrm>
            <a:off x="320040" y="1005840"/>
            <a:ext cx="4114800" cy="3657600"/>
          </a:xfrm>
          <a:prstGeom prst="rect">
            <a:avLst/>
          </a:prstGeom>
          <a:solidFill>
            <a:srgbClr val="E9F5F6"/>
          </a:solidFill>
          <a:ln w="12700">
            <a:solidFill>
              <a:srgbClr val="94D2BD"/>
            </a:solidFill>
            <a:prstDash val="solid"/>
          </a:ln>
          <a:effectLst>
            <a:outerShdw blurRad="101600" dist="38100" dir="8100000" sx="100000" sy="100000" kx="0" ky="0" algn="bl" rotWithShape="0">
              <a:srgbClr val="000000">
                <a:alpha val="13000"/>
              </a:srgbClr>
            </a:outerShdw>
          </a:effectLst>
        </p:spPr>
      </p:sp>
      <p:sp>
        <p:nvSpPr>
          <p:cNvPr id="186618228" name="Text 8"/>
          <p:cNvSpPr/>
          <p:nvPr/>
        </p:nvSpPr>
        <p:spPr bwMode="auto">
          <a:xfrm>
            <a:off x="457200" y="1097280"/>
            <a:ext cx="3840480" cy="347472"/>
          </a:xfrm>
          <a:prstGeom prst="rect">
            <a:avLst/>
          </a:prstGeom>
          <a:noFill/>
          <a:ln/>
        </p:spPr>
        <p:txBody>
          <a:bodyPr wrap="square" rtlCol="0" anchor="ctr"/>
          <a:lstStyle/>
          <a:p>
            <a:pPr marL="0" indent="0">
              <a:buNone/>
              <a:defRPr/>
            </a:pPr>
            <a:r>
              <a:rPr lang="en-US" sz="1400" b="1">
                <a:solidFill>
                  <a:srgbClr val="0D1B2A"/>
                </a:solidFill>
              </a:rPr>
              <a:t>Problem Statement</a:t>
            </a:r>
            <a:endParaRPr lang="en-US" sz="1400"/>
          </a:p>
        </p:txBody>
      </p:sp>
      <p:sp>
        <p:nvSpPr>
          <p:cNvPr id="1529486065" name="Text 9"/>
          <p:cNvSpPr/>
          <p:nvPr/>
        </p:nvSpPr>
        <p:spPr bwMode="auto">
          <a:xfrm>
            <a:off x="457200" y="1508759"/>
            <a:ext cx="3794760" cy="3017519"/>
          </a:xfrm>
          <a:prstGeom prst="rect">
            <a:avLst/>
          </a:prstGeom>
          <a:noFill/>
          <a:ln/>
        </p:spPr>
        <p:txBody>
          <a:bodyPr wrap="square" rtlCol="0" anchor="t"/>
          <a:lstStyle/>
          <a:p>
            <a:pPr marL="0" indent="0">
              <a:buNone/>
              <a:defRPr/>
            </a:pPr>
            <a:r>
              <a:rPr lang="en-US" sz="1200" b="1">
                <a:solidFill>
                  <a:srgbClr val="0A9396"/>
                </a:solidFill>
              </a:rPr>
              <a:t>Goal: </a:t>
            </a:r>
            <a:r>
              <a:rPr lang="en-US" sz="1200">
                <a:solidFill>
                  <a:srgbClr val="1E293B"/>
                </a:solidFill>
              </a:rPr>
              <a:t>Predict whether a patient has no sleep disorder, insomnia, or sleep apnea using lifestyle and health data.</a:t>
            </a:r>
            <a:br>
              <a:rPr lang="en-US" sz="1200">
                <a:solidFill>
                  <a:srgbClr val="1E293B"/>
                </a:solidFill>
              </a:rPr>
            </a:br>
            <a:br>
              <a:rPr lang="en-US" sz="1200">
                <a:solidFill>
                  <a:srgbClr val="1E293B"/>
                </a:solidFill>
              </a:rPr>
            </a:br>
            <a:r>
              <a:rPr lang="en-US" sz="1200" b="1">
                <a:solidFill>
                  <a:srgbClr val="0A9396"/>
                </a:solidFill>
              </a:rPr>
              <a:t>Task: </a:t>
            </a:r>
            <a:r>
              <a:rPr lang="en-US" sz="1200">
                <a:solidFill>
                  <a:srgbClr val="1E293B"/>
                </a:solidFill>
              </a:rPr>
              <a:t>Multi-class classification (3 classes)</a:t>
            </a:r>
            <a:br>
              <a:rPr lang="en-US" sz="1200">
                <a:solidFill>
                  <a:srgbClr val="1E293B"/>
                </a:solidFill>
              </a:rPr>
            </a:br>
            <a:br>
              <a:rPr lang="en-US" sz="1200">
                <a:solidFill>
                  <a:srgbClr val="1E293B"/>
                </a:solidFill>
              </a:rPr>
            </a:br>
            <a:r>
              <a:rPr lang="en-US" sz="1200" b="1">
                <a:solidFill>
                  <a:srgbClr val="0A9396"/>
                </a:solidFill>
              </a:rPr>
              <a:t>Dataset: </a:t>
            </a:r>
            <a:r>
              <a:rPr lang="en-US" sz="1200">
                <a:solidFill>
                  <a:srgbClr val="1E293B"/>
                </a:solidFill>
              </a:rPr>
              <a:t>Sleep Health and Lifestyle Dataset (Kaggle, ~400 records, 13 features)</a:t>
            </a:r>
            <a:br>
              <a:rPr lang="en-US" sz="1200">
                <a:solidFill>
                  <a:srgbClr val="1E293B"/>
                </a:solidFill>
              </a:rPr>
            </a:br>
            <a:br>
              <a:rPr lang="en-US" sz="1200">
                <a:solidFill>
                  <a:srgbClr val="1E293B"/>
                </a:solidFill>
              </a:rPr>
            </a:br>
            <a:r>
              <a:rPr lang="en-US" sz="1200" b="1">
                <a:solidFill>
                  <a:srgbClr val="0A9396"/>
                </a:solidFill>
              </a:rPr>
              <a:t>Models: </a:t>
            </a:r>
            <a:r>
              <a:rPr lang="en-US" sz="1200">
                <a:solidFill>
                  <a:srgbClr val="1E293B"/>
                </a:solidFill>
              </a:rPr>
              <a:t>Random Forest vs. XGBoost, with fairness auditing across demographic groups.</a:t>
            </a:r>
            <a:endParaRPr lang="en-US" sz="1200"/>
          </a:p>
        </p:txBody>
      </p:sp>
      <p:sp>
        <p:nvSpPr>
          <p:cNvPr id="161248093" name="Shape 10"/>
          <p:cNvSpPr/>
          <p:nvPr/>
        </p:nvSpPr>
        <p:spPr bwMode="auto">
          <a:xfrm>
            <a:off x="4663440" y="1005840"/>
            <a:ext cx="4114800" cy="3657600"/>
          </a:xfrm>
          <a:prstGeom prst="rect">
            <a:avLst/>
          </a:prstGeom>
          <a:solidFill>
            <a:srgbClr val="E9F5F6"/>
          </a:solidFill>
          <a:ln w="12700">
            <a:solidFill>
              <a:srgbClr val="94D2BD"/>
            </a:solidFill>
            <a:prstDash val="solid"/>
          </a:ln>
          <a:effectLst>
            <a:outerShdw blurRad="101600" dist="38100" dir="8100000" sx="100000" sy="100000" kx="0" ky="0" algn="bl" rotWithShape="0">
              <a:srgbClr val="000000">
                <a:alpha val="13000"/>
              </a:srgbClr>
            </a:outerShdw>
          </a:effectLst>
        </p:spPr>
      </p:sp>
      <p:sp>
        <p:nvSpPr>
          <p:cNvPr id="1069507504" name="Text 11"/>
          <p:cNvSpPr/>
          <p:nvPr/>
        </p:nvSpPr>
        <p:spPr bwMode="auto">
          <a:xfrm>
            <a:off x="4800600" y="1097280"/>
            <a:ext cx="3794760" cy="347472"/>
          </a:xfrm>
          <a:prstGeom prst="rect">
            <a:avLst/>
          </a:prstGeom>
          <a:noFill/>
          <a:ln/>
        </p:spPr>
        <p:txBody>
          <a:bodyPr wrap="square" rtlCol="0" anchor="ctr"/>
          <a:lstStyle/>
          <a:p>
            <a:pPr marL="0" indent="0">
              <a:buNone/>
              <a:defRPr/>
            </a:pPr>
            <a:r>
              <a:rPr lang="en-US" sz="1400" b="1">
                <a:solidFill>
                  <a:srgbClr val="0D1B2A"/>
                </a:solidFill>
              </a:rPr>
              <a:t>Target Classes</a:t>
            </a:r>
            <a:endParaRPr lang="en-US" sz="1400"/>
          </a:p>
        </p:txBody>
      </p:sp>
      <p:sp>
        <p:nvSpPr>
          <p:cNvPr id="2004908859" name="Shape 12"/>
          <p:cNvSpPr/>
          <p:nvPr/>
        </p:nvSpPr>
        <p:spPr bwMode="auto">
          <a:xfrm>
            <a:off x="4800600" y="1554480"/>
            <a:ext cx="109728" cy="777240"/>
          </a:xfrm>
          <a:prstGeom prst="rect">
            <a:avLst/>
          </a:prstGeom>
          <a:solidFill>
            <a:srgbClr val="0A9396"/>
          </a:solidFill>
          <a:ln w="12700">
            <a:solidFill>
              <a:srgbClr val="0A9396"/>
            </a:solidFill>
            <a:prstDash val="solid"/>
          </a:ln>
        </p:spPr>
      </p:sp>
      <p:sp>
        <p:nvSpPr>
          <p:cNvPr id="278273440" name="Text 13"/>
          <p:cNvSpPr/>
          <p:nvPr/>
        </p:nvSpPr>
        <p:spPr bwMode="auto">
          <a:xfrm>
            <a:off x="4983480" y="1572768"/>
            <a:ext cx="3566160" cy="274320"/>
          </a:xfrm>
          <a:prstGeom prst="rect">
            <a:avLst/>
          </a:prstGeom>
          <a:noFill/>
          <a:ln/>
        </p:spPr>
        <p:txBody>
          <a:bodyPr wrap="square" rtlCol="0" anchor="ctr"/>
          <a:lstStyle/>
          <a:p>
            <a:pPr marL="0" indent="0">
              <a:buNone/>
              <a:defRPr/>
            </a:pPr>
            <a:r>
              <a:rPr lang="en-US" sz="1300" b="1">
                <a:solidFill>
                  <a:srgbClr val="0A9396"/>
                </a:solidFill>
              </a:rPr>
              <a:t>None</a:t>
            </a:r>
            <a:endParaRPr lang="en-US" sz="1300"/>
          </a:p>
        </p:txBody>
      </p:sp>
      <p:sp>
        <p:nvSpPr>
          <p:cNvPr id="68009494" name="Text 14"/>
          <p:cNvSpPr/>
          <p:nvPr/>
        </p:nvSpPr>
        <p:spPr bwMode="auto">
          <a:xfrm>
            <a:off x="4983480" y="1865376"/>
            <a:ext cx="3566160" cy="411480"/>
          </a:xfrm>
          <a:prstGeom prst="rect">
            <a:avLst/>
          </a:prstGeom>
          <a:noFill/>
          <a:ln/>
        </p:spPr>
        <p:txBody>
          <a:bodyPr wrap="square" rtlCol="0" anchor="ctr"/>
          <a:lstStyle/>
          <a:p>
            <a:pPr marL="0" indent="0">
              <a:buNone/>
              <a:defRPr/>
            </a:pPr>
            <a:r>
              <a:rPr lang="en-US" sz="1000">
                <a:solidFill>
                  <a:srgbClr val="1E293B"/>
                </a:solidFill>
              </a:rPr>
              <a:t>No diagnosed sleep disorder — patient sleeps normally.</a:t>
            </a:r>
            <a:endParaRPr lang="en-US" sz="1000"/>
          </a:p>
        </p:txBody>
      </p:sp>
      <p:sp>
        <p:nvSpPr>
          <p:cNvPr id="929120008" name="Shape 15"/>
          <p:cNvSpPr/>
          <p:nvPr/>
        </p:nvSpPr>
        <p:spPr bwMode="auto">
          <a:xfrm>
            <a:off x="4800600" y="2578608"/>
            <a:ext cx="109728" cy="777240"/>
          </a:xfrm>
          <a:prstGeom prst="rect">
            <a:avLst/>
          </a:prstGeom>
          <a:solidFill>
            <a:srgbClr val="EE9B00"/>
          </a:solidFill>
          <a:ln w="12700">
            <a:solidFill>
              <a:srgbClr val="EE9B00"/>
            </a:solidFill>
            <a:prstDash val="solid"/>
          </a:ln>
        </p:spPr>
      </p:sp>
      <p:sp>
        <p:nvSpPr>
          <p:cNvPr id="1080798184" name="Text 16"/>
          <p:cNvSpPr/>
          <p:nvPr/>
        </p:nvSpPr>
        <p:spPr bwMode="auto">
          <a:xfrm>
            <a:off x="4983480" y="2596896"/>
            <a:ext cx="3566160" cy="274320"/>
          </a:xfrm>
          <a:prstGeom prst="rect">
            <a:avLst/>
          </a:prstGeom>
          <a:noFill/>
          <a:ln/>
        </p:spPr>
        <p:txBody>
          <a:bodyPr wrap="square" rtlCol="0" anchor="ctr"/>
          <a:lstStyle/>
          <a:p>
            <a:pPr marL="0" indent="0">
              <a:buNone/>
              <a:defRPr/>
            </a:pPr>
            <a:r>
              <a:rPr lang="en-US" sz="1300" b="1">
                <a:solidFill>
                  <a:srgbClr val="EE9B00"/>
                </a:solidFill>
              </a:rPr>
              <a:t>Insomnia</a:t>
            </a:r>
            <a:endParaRPr lang="en-US" sz="1300"/>
          </a:p>
        </p:txBody>
      </p:sp>
      <p:sp>
        <p:nvSpPr>
          <p:cNvPr id="2144222775" name="Text 17"/>
          <p:cNvSpPr/>
          <p:nvPr/>
        </p:nvSpPr>
        <p:spPr bwMode="auto">
          <a:xfrm>
            <a:off x="4983480" y="2889504"/>
            <a:ext cx="3566160" cy="411480"/>
          </a:xfrm>
          <a:prstGeom prst="rect">
            <a:avLst/>
          </a:prstGeom>
          <a:noFill/>
          <a:ln/>
        </p:spPr>
        <p:txBody>
          <a:bodyPr wrap="square" rtlCol="0" anchor="ctr"/>
          <a:lstStyle/>
          <a:p>
            <a:pPr marL="0" indent="0">
              <a:buNone/>
              <a:defRPr/>
            </a:pPr>
            <a:r>
              <a:rPr lang="en-US" sz="1000">
                <a:solidFill>
                  <a:srgbClr val="1E293B"/>
                </a:solidFill>
              </a:rPr>
              <a:t>Difficulty falling or staying asleep; disrupted sleep patterns.</a:t>
            </a:r>
            <a:endParaRPr lang="en-US" sz="1000"/>
          </a:p>
        </p:txBody>
      </p:sp>
      <p:sp>
        <p:nvSpPr>
          <p:cNvPr id="792249803" name="Shape 18"/>
          <p:cNvSpPr/>
          <p:nvPr/>
        </p:nvSpPr>
        <p:spPr bwMode="auto">
          <a:xfrm>
            <a:off x="4800600" y="3602735"/>
            <a:ext cx="109728" cy="777240"/>
          </a:xfrm>
          <a:prstGeom prst="rect">
            <a:avLst/>
          </a:prstGeom>
          <a:solidFill>
            <a:srgbClr val="AE2012"/>
          </a:solidFill>
          <a:ln w="12700">
            <a:solidFill>
              <a:srgbClr val="AE2012"/>
            </a:solidFill>
            <a:prstDash val="solid"/>
          </a:ln>
        </p:spPr>
      </p:sp>
      <p:sp>
        <p:nvSpPr>
          <p:cNvPr id="827889274" name="Text 19"/>
          <p:cNvSpPr/>
          <p:nvPr/>
        </p:nvSpPr>
        <p:spPr bwMode="auto">
          <a:xfrm>
            <a:off x="4983480" y="3621024"/>
            <a:ext cx="3566160" cy="274320"/>
          </a:xfrm>
          <a:prstGeom prst="rect">
            <a:avLst/>
          </a:prstGeom>
          <a:noFill/>
          <a:ln/>
        </p:spPr>
        <p:txBody>
          <a:bodyPr wrap="square" rtlCol="0" anchor="ctr"/>
          <a:lstStyle/>
          <a:p>
            <a:pPr marL="0" indent="0">
              <a:buNone/>
              <a:defRPr/>
            </a:pPr>
            <a:r>
              <a:rPr lang="en-US" sz="1300" b="1">
                <a:solidFill>
                  <a:srgbClr val="AE2012"/>
                </a:solidFill>
              </a:rPr>
              <a:t>Sleep Apnea</a:t>
            </a:r>
            <a:endParaRPr lang="en-US" sz="1300"/>
          </a:p>
        </p:txBody>
      </p:sp>
      <p:sp>
        <p:nvSpPr>
          <p:cNvPr id="324610730" name="Text 20"/>
          <p:cNvSpPr/>
          <p:nvPr/>
        </p:nvSpPr>
        <p:spPr bwMode="auto">
          <a:xfrm>
            <a:off x="4983480" y="3913632"/>
            <a:ext cx="3566160" cy="411480"/>
          </a:xfrm>
          <a:prstGeom prst="rect">
            <a:avLst/>
          </a:prstGeom>
          <a:noFill/>
          <a:ln/>
        </p:spPr>
        <p:txBody>
          <a:bodyPr wrap="square" rtlCol="0" anchor="ctr"/>
          <a:lstStyle/>
          <a:p>
            <a:pPr marL="0" indent="0">
              <a:buNone/>
              <a:defRPr/>
            </a:pPr>
            <a:r>
              <a:rPr lang="en-US" sz="1000">
                <a:solidFill>
                  <a:srgbClr val="1E293B"/>
                </a:solidFill>
              </a:rPr>
              <a:t>Repeated breathing interruptions during sleep; oxygen drops.</a:t>
            </a:r>
            <a:endParaRPr lang="en-US" sz="1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
    <p:bg>
      <p:bgPr shadeToTitle="0">
        <a:solidFill>
          <a:srgbClr val="FFFFFF"/>
        </a:solidFill>
      </p:bgPr>
    </p:bg>
    <p:spTree>
      <p:nvGrpSpPr>
        <p:cNvPr id="1" name=""/>
        <p:cNvGrpSpPr/>
        <p:nvPr/>
      </p:nvGrpSpPr>
      <p:grpSpPr bwMode="auto">
        <a:xfrm>
          <a:off x="0" y="0"/>
          <a:ext cx="0" cy="0"/>
          <a:chOff x="0" y="0"/>
          <a:chExt cx="0" cy="0"/>
        </a:xfrm>
      </p:grpSpPr>
      <p:sp>
        <p:nvSpPr>
          <p:cNvPr id="165176289" name="Shape 0"/>
          <p:cNvSpPr/>
          <p:nvPr/>
        </p:nvSpPr>
        <p:spPr bwMode="auto">
          <a:xfrm>
            <a:off x="0" y="0"/>
            <a:ext cx="9144000" cy="658368"/>
          </a:xfrm>
          <a:prstGeom prst="rect">
            <a:avLst/>
          </a:prstGeom>
          <a:solidFill>
            <a:srgbClr val="0D1B2A"/>
          </a:solidFill>
          <a:ln w="12700">
            <a:solidFill>
              <a:srgbClr val="0D1B2A"/>
            </a:solidFill>
            <a:prstDash val="solid"/>
          </a:ln>
        </p:spPr>
      </p:sp>
      <p:sp>
        <p:nvSpPr>
          <p:cNvPr id="690026939" name="Shape 1"/>
          <p:cNvSpPr/>
          <p:nvPr/>
        </p:nvSpPr>
        <p:spPr bwMode="auto">
          <a:xfrm>
            <a:off x="411480" y="118872"/>
            <a:ext cx="347472" cy="347472"/>
          </a:xfrm>
          <a:prstGeom prst="rect">
            <a:avLst/>
          </a:prstGeom>
          <a:solidFill>
            <a:srgbClr val="0A9396"/>
          </a:solidFill>
          <a:ln w="12700">
            <a:solidFill>
              <a:srgbClr val="0A9396"/>
            </a:solidFill>
            <a:prstDash val="solid"/>
          </a:ln>
        </p:spPr>
      </p:sp>
      <p:sp>
        <p:nvSpPr>
          <p:cNvPr id="106546294" name="Text 2"/>
          <p:cNvSpPr/>
          <p:nvPr/>
        </p:nvSpPr>
        <p:spPr bwMode="auto">
          <a:xfrm>
            <a:off x="411480" y="118872"/>
            <a:ext cx="347472" cy="347472"/>
          </a:xfrm>
          <a:prstGeom prst="rect">
            <a:avLst/>
          </a:prstGeom>
          <a:noFill/>
          <a:ln/>
        </p:spPr>
        <p:txBody>
          <a:bodyPr wrap="square" lIns="0" tIns="0" rIns="0" bIns="0" rtlCol="0" anchor="ctr"/>
          <a:lstStyle/>
          <a:p>
            <a:pPr marL="0" indent="0" algn="ctr">
              <a:buNone/>
              <a:defRPr/>
            </a:pPr>
            <a:r>
              <a:rPr lang="en-US" sz="1400" b="1">
                <a:solidFill>
                  <a:srgbClr val="FFFFFF"/>
                </a:solidFill>
              </a:rPr>
              <a:t>3</a:t>
            </a:r>
            <a:endParaRPr lang="en-US" sz="1400"/>
          </a:p>
        </p:txBody>
      </p:sp>
      <p:sp>
        <p:nvSpPr>
          <p:cNvPr id="1862469089" name="Text 3"/>
          <p:cNvSpPr/>
          <p:nvPr/>
        </p:nvSpPr>
        <p:spPr bwMode="auto">
          <a:xfrm>
            <a:off x="868680" y="118872"/>
            <a:ext cx="8046720" cy="347472"/>
          </a:xfrm>
          <a:prstGeom prst="rect">
            <a:avLst/>
          </a:prstGeom>
          <a:noFill/>
          <a:ln/>
        </p:spPr>
        <p:txBody>
          <a:bodyPr wrap="square" lIns="0" tIns="0" rIns="0" bIns="0" rtlCol="0" anchor="ctr"/>
          <a:lstStyle/>
          <a:p>
            <a:pPr marL="0" indent="0">
              <a:buNone/>
              <a:defRPr/>
            </a:pPr>
            <a:r>
              <a:rPr lang="en-US" sz="1800" b="1">
                <a:solidFill>
                  <a:srgbClr val="FFFFFF"/>
                </a:solidFill>
              </a:rPr>
              <a:t>Background</a:t>
            </a:r>
            <a:endParaRPr lang="en-US" sz="1800"/>
          </a:p>
        </p:txBody>
      </p:sp>
      <p:sp>
        <p:nvSpPr>
          <p:cNvPr id="1795771173" name="Shape 4"/>
          <p:cNvSpPr/>
          <p:nvPr/>
        </p:nvSpPr>
        <p:spPr bwMode="auto">
          <a:xfrm>
            <a:off x="0" y="4937760"/>
            <a:ext cx="9144000" cy="201168"/>
          </a:xfrm>
          <a:prstGeom prst="rect">
            <a:avLst/>
          </a:prstGeom>
          <a:solidFill>
            <a:srgbClr val="0A9396"/>
          </a:solidFill>
          <a:ln w="12700">
            <a:solidFill>
              <a:srgbClr val="0A9396"/>
            </a:solidFill>
            <a:prstDash val="solid"/>
          </a:ln>
        </p:spPr>
      </p:sp>
      <p:sp>
        <p:nvSpPr>
          <p:cNvPr id="1515066976" name="Text 5"/>
          <p:cNvSpPr/>
          <p:nvPr/>
        </p:nvSpPr>
        <p:spPr bwMode="auto">
          <a:xfrm>
            <a:off x="274320" y="4937760"/>
            <a:ext cx="8595360" cy="201168"/>
          </a:xfrm>
          <a:prstGeom prst="rect">
            <a:avLst/>
          </a:prstGeom>
          <a:noFill/>
          <a:ln/>
        </p:spPr>
        <p:txBody>
          <a:bodyPr wrap="square" lIns="0" tIns="0" rIns="0" bIns="0" rtlCol="0" anchor="ctr"/>
          <a:lstStyle/>
          <a:p>
            <a:pPr marL="0" indent="0">
              <a:buNone/>
              <a:defRPr/>
            </a:pPr>
            <a:r>
              <a:rPr lang="en-US" sz="800">
                <a:solidFill>
                  <a:srgbClr val="FFFFFF"/>
                </a:solidFill>
              </a:rPr>
              <a:t>Sleep Disorder Classification  |  Final Project</a:t>
            </a:r>
            <a:endParaRPr lang="en-US" sz="800"/>
          </a:p>
        </p:txBody>
      </p:sp>
      <p:sp>
        <p:nvSpPr>
          <p:cNvPr id="133154061" name="Text 6"/>
          <p:cNvSpPr/>
          <p:nvPr/>
        </p:nvSpPr>
        <p:spPr bwMode="auto">
          <a:xfrm>
            <a:off x="457200" y="713232"/>
            <a:ext cx="8229600" cy="274320"/>
          </a:xfrm>
          <a:prstGeom prst="rect">
            <a:avLst/>
          </a:prstGeom>
          <a:noFill/>
          <a:ln/>
        </p:spPr>
        <p:txBody>
          <a:bodyPr wrap="square" rtlCol="0" anchor="ctr"/>
          <a:lstStyle/>
          <a:p>
            <a:pPr marL="0" indent="0">
              <a:buNone/>
              <a:defRPr/>
            </a:pPr>
            <a:r>
              <a:rPr lang="en-US" sz="1000" i="1">
                <a:solidFill>
                  <a:srgbClr val="64748B"/>
                </a:solidFill>
              </a:rPr>
              <a:t>Review of the problem and existing state-of-the-art solutions</a:t>
            </a:r>
            <a:endParaRPr lang="en-US" sz="1000"/>
          </a:p>
        </p:txBody>
      </p:sp>
      <p:sp>
        <p:nvSpPr>
          <p:cNvPr id="521542277" name="Shape 7"/>
          <p:cNvSpPr/>
          <p:nvPr/>
        </p:nvSpPr>
        <p:spPr bwMode="auto">
          <a:xfrm>
            <a:off x="320040" y="1005840"/>
            <a:ext cx="4023360" cy="1737360"/>
          </a:xfrm>
          <a:prstGeom prst="rect">
            <a:avLst/>
          </a:prstGeom>
          <a:solidFill>
            <a:srgbClr val="E9F5F6"/>
          </a:solidFill>
          <a:ln w="12700">
            <a:solidFill>
              <a:srgbClr val="94D2BD"/>
            </a:solidFill>
            <a:prstDash val="solid"/>
          </a:ln>
          <a:effectLst>
            <a:outerShdw blurRad="101600" dist="38100" dir="8100000" sx="100000" sy="100000" kx="0" ky="0" algn="bl" rotWithShape="0">
              <a:srgbClr val="000000">
                <a:alpha val="13000"/>
              </a:srgbClr>
            </a:outerShdw>
          </a:effectLst>
        </p:spPr>
      </p:sp>
      <p:sp>
        <p:nvSpPr>
          <p:cNvPr id="1255462115" name="Text 8"/>
          <p:cNvSpPr/>
          <p:nvPr/>
        </p:nvSpPr>
        <p:spPr bwMode="auto">
          <a:xfrm>
            <a:off x="457200" y="1097280"/>
            <a:ext cx="3749040" cy="320040"/>
          </a:xfrm>
          <a:prstGeom prst="rect">
            <a:avLst/>
          </a:prstGeom>
          <a:noFill/>
          <a:ln/>
        </p:spPr>
        <p:txBody>
          <a:bodyPr wrap="square" rtlCol="0" anchor="ctr"/>
          <a:lstStyle/>
          <a:p>
            <a:pPr marL="0" indent="0">
              <a:buNone/>
              <a:defRPr/>
            </a:pPr>
            <a:r>
              <a:rPr lang="en-US" sz="1300" b="1">
                <a:solidFill>
                  <a:srgbClr val="0D1B2A"/>
                </a:solidFill>
              </a:rPr>
              <a:t>Sleep Disorders Overview</a:t>
            </a:r>
            <a:endParaRPr lang="en-US" sz="1300"/>
          </a:p>
        </p:txBody>
      </p:sp>
      <p:sp>
        <p:nvSpPr>
          <p:cNvPr id="830001783" name="Text 9"/>
          <p:cNvSpPr/>
          <p:nvPr/>
        </p:nvSpPr>
        <p:spPr bwMode="auto">
          <a:xfrm>
            <a:off x="457200" y="1444752"/>
            <a:ext cx="3749040" cy="1188720"/>
          </a:xfrm>
          <a:prstGeom prst="rect">
            <a:avLst/>
          </a:prstGeom>
          <a:noFill/>
          <a:ln/>
        </p:spPr>
        <p:txBody>
          <a:bodyPr wrap="square" rtlCol="0" anchor="t"/>
          <a:lstStyle/>
          <a:p>
            <a:pPr marL="0" indent="0">
              <a:buNone/>
              <a:defRPr/>
            </a:pPr>
            <a:r>
              <a:rPr lang="en-US" sz="1100">
                <a:solidFill>
                  <a:srgbClr val="1E293B"/>
                </a:solidFill>
              </a:rPr>
              <a:t>Sleep disorders encompass a range of conditions affecting sleep quality, timing, and duration. Polysomnography (PSG) is the clinical gold standard but is resource-intensive and costly.</a:t>
            </a:r>
            <a:endParaRPr lang="en-US" sz="1100"/>
          </a:p>
        </p:txBody>
      </p:sp>
      <p:sp>
        <p:nvSpPr>
          <p:cNvPr id="279344319" name="Shape 10"/>
          <p:cNvSpPr/>
          <p:nvPr/>
        </p:nvSpPr>
        <p:spPr bwMode="auto">
          <a:xfrm>
            <a:off x="320040" y="2926080"/>
            <a:ext cx="4023360" cy="1737360"/>
          </a:xfrm>
          <a:prstGeom prst="rect">
            <a:avLst/>
          </a:prstGeom>
          <a:solidFill>
            <a:srgbClr val="E9F5F6"/>
          </a:solidFill>
          <a:ln w="12700">
            <a:solidFill>
              <a:srgbClr val="94D2BD"/>
            </a:solidFill>
            <a:prstDash val="solid"/>
          </a:ln>
          <a:effectLst>
            <a:outerShdw blurRad="101600" dist="38100" dir="8100000" sx="100000" sy="100000" kx="0" ky="0" algn="bl" rotWithShape="0">
              <a:srgbClr val="000000">
                <a:alpha val="13000"/>
              </a:srgbClr>
            </a:outerShdw>
          </a:effectLst>
        </p:spPr>
      </p:sp>
      <p:sp>
        <p:nvSpPr>
          <p:cNvPr id="1838818225" name="Text 11"/>
          <p:cNvSpPr/>
          <p:nvPr/>
        </p:nvSpPr>
        <p:spPr bwMode="auto">
          <a:xfrm>
            <a:off x="457200" y="3017519"/>
            <a:ext cx="3749040" cy="320040"/>
          </a:xfrm>
          <a:prstGeom prst="rect">
            <a:avLst/>
          </a:prstGeom>
          <a:noFill/>
          <a:ln/>
        </p:spPr>
        <p:txBody>
          <a:bodyPr wrap="square" rtlCol="0" anchor="ctr"/>
          <a:lstStyle/>
          <a:p>
            <a:pPr marL="0" indent="0">
              <a:buNone/>
              <a:defRPr/>
            </a:pPr>
            <a:r>
              <a:rPr lang="en-US" sz="1300" b="1">
                <a:solidFill>
                  <a:srgbClr val="0D1B2A"/>
                </a:solidFill>
              </a:rPr>
              <a:t>Existing ML Approaches</a:t>
            </a:r>
            <a:endParaRPr lang="en-US" sz="1300"/>
          </a:p>
        </p:txBody>
      </p:sp>
      <p:sp>
        <p:nvSpPr>
          <p:cNvPr id="732268651" name="Text 12"/>
          <p:cNvSpPr/>
          <p:nvPr/>
        </p:nvSpPr>
        <p:spPr bwMode="auto">
          <a:xfrm>
            <a:off x="457200" y="3364992"/>
            <a:ext cx="3749040" cy="1188720"/>
          </a:xfrm>
          <a:prstGeom prst="rect">
            <a:avLst/>
          </a:prstGeom>
          <a:noFill/>
          <a:ln/>
        </p:spPr>
        <p:txBody>
          <a:bodyPr wrap="square" rtlCol="0" anchor="t"/>
          <a:lstStyle/>
          <a:p>
            <a:pPr marL="0" indent="0">
              <a:buNone/>
              <a:defRPr/>
            </a:pPr>
            <a:r>
              <a:rPr lang="en-US" sz="1100">
                <a:solidFill>
                  <a:srgbClr val="1E293B"/>
                </a:solidFill>
              </a:rPr>
              <a:t>Prior work has used SVMs, Naïve Bayes, and neural networks on PSG signals. Fewer studies address tabular lifestyle data — making this dataset a realistic, low-cost alternative.</a:t>
            </a:r>
            <a:endParaRPr lang="en-US" sz="1100"/>
          </a:p>
        </p:txBody>
      </p:sp>
      <p:sp>
        <p:nvSpPr>
          <p:cNvPr id="724872775" name="Shape 13"/>
          <p:cNvSpPr/>
          <p:nvPr/>
        </p:nvSpPr>
        <p:spPr bwMode="auto">
          <a:xfrm>
            <a:off x="4663440" y="1005840"/>
            <a:ext cx="4114800" cy="1737360"/>
          </a:xfrm>
          <a:prstGeom prst="rect">
            <a:avLst/>
          </a:prstGeom>
          <a:solidFill>
            <a:srgbClr val="E9F5F6"/>
          </a:solidFill>
          <a:ln w="12700">
            <a:solidFill>
              <a:srgbClr val="94D2BD"/>
            </a:solidFill>
            <a:prstDash val="solid"/>
          </a:ln>
          <a:effectLst>
            <a:outerShdw blurRad="101600" dist="38100" dir="8100000" sx="100000" sy="100000" kx="0" ky="0" algn="bl" rotWithShape="0">
              <a:srgbClr val="000000">
                <a:alpha val="13000"/>
              </a:srgbClr>
            </a:outerShdw>
          </a:effectLst>
        </p:spPr>
      </p:sp>
      <p:sp>
        <p:nvSpPr>
          <p:cNvPr id="1098431434" name="Text 14"/>
          <p:cNvSpPr/>
          <p:nvPr/>
        </p:nvSpPr>
        <p:spPr bwMode="auto">
          <a:xfrm>
            <a:off x="4800600" y="1097280"/>
            <a:ext cx="3794760" cy="320040"/>
          </a:xfrm>
          <a:prstGeom prst="rect">
            <a:avLst/>
          </a:prstGeom>
          <a:noFill/>
          <a:ln/>
        </p:spPr>
        <p:txBody>
          <a:bodyPr wrap="square" rtlCol="0" anchor="ctr"/>
          <a:lstStyle/>
          <a:p>
            <a:pPr marL="0" indent="0">
              <a:buNone/>
              <a:defRPr/>
            </a:pPr>
            <a:r>
              <a:rPr lang="en-US" sz="1300" b="1">
                <a:solidFill>
                  <a:srgbClr val="0D1B2A"/>
                </a:solidFill>
              </a:rPr>
              <a:t>Tree-Based Models</a:t>
            </a:r>
            <a:endParaRPr lang="en-US" sz="1300"/>
          </a:p>
        </p:txBody>
      </p:sp>
      <p:sp>
        <p:nvSpPr>
          <p:cNvPr id="1622467125" name="Text 15"/>
          <p:cNvSpPr/>
          <p:nvPr/>
        </p:nvSpPr>
        <p:spPr bwMode="auto">
          <a:xfrm>
            <a:off x="4800600" y="1444752"/>
            <a:ext cx="3794760" cy="1188720"/>
          </a:xfrm>
          <a:prstGeom prst="rect">
            <a:avLst/>
          </a:prstGeom>
          <a:noFill/>
          <a:ln/>
        </p:spPr>
        <p:txBody>
          <a:bodyPr wrap="square" rtlCol="0" anchor="t"/>
          <a:lstStyle/>
          <a:p>
            <a:pPr marL="0" indent="0">
              <a:buNone/>
              <a:defRPr/>
            </a:pPr>
            <a:r>
              <a:rPr lang="en-US" sz="1100">
                <a:solidFill>
                  <a:srgbClr val="1E293B"/>
                </a:solidFill>
              </a:rPr>
              <a:t>Random Forests and XGBoost excel on tabular data, handle mixed feature types, and provide built-in feature importance — making them ideal for interpretable medical classification.</a:t>
            </a:r>
            <a:endParaRPr lang="en-US" sz="1100"/>
          </a:p>
        </p:txBody>
      </p:sp>
      <p:sp>
        <p:nvSpPr>
          <p:cNvPr id="397100115" name="Shape 16"/>
          <p:cNvSpPr/>
          <p:nvPr/>
        </p:nvSpPr>
        <p:spPr bwMode="auto">
          <a:xfrm>
            <a:off x="4663440" y="2926080"/>
            <a:ext cx="4114800" cy="1737360"/>
          </a:xfrm>
          <a:prstGeom prst="rect">
            <a:avLst/>
          </a:prstGeom>
          <a:solidFill>
            <a:srgbClr val="E9F5F6"/>
          </a:solidFill>
          <a:ln w="12700">
            <a:solidFill>
              <a:srgbClr val="94D2BD"/>
            </a:solidFill>
            <a:prstDash val="solid"/>
          </a:ln>
          <a:effectLst>
            <a:outerShdw blurRad="101600" dist="38100" dir="8100000" sx="100000" sy="100000" kx="0" ky="0" algn="bl" rotWithShape="0">
              <a:srgbClr val="000000">
                <a:alpha val="13000"/>
              </a:srgbClr>
            </a:outerShdw>
          </a:effectLst>
        </p:spPr>
      </p:sp>
      <p:sp>
        <p:nvSpPr>
          <p:cNvPr id="2037742593" name="Text 17"/>
          <p:cNvSpPr/>
          <p:nvPr/>
        </p:nvSpPr>
        <p:spPr bwMode="auto">
          <a:xfrm>
            <a:off x="4800600" y="3017519"/>
            <a:ext cx="3794760" cy="320040"/>
          </a:xfrm>
          <a:prstGeom prst="rect">
            <a:avLst/>
          </a:prstGeom>
          <a:noFill/>
          <a:ln/>
        </p:spPr>
        <p:txBody>
          <a:bodyPr wrap="square" rtlCol="0" anchor="ctr"/>
          <a:lstStyle/>
          <a:p>
            <a:pPr marL="0" indent="0">
              <a:buNone/>
              <a:defRPr/>
            </a:pPr>
            <a:r>
              <a:rPr lang="en-US" sz="1300" b="1">
                <a:solidFill>
                  <a:srgbClr val="0D1B2A"/>
                </a:solidFill>
              </a:rPr>
              <a:t>Fairness in ML</a:t>
            </a:r>
            <a:endParaRPr lang="en-US" sz="1300"/>
          </a:p>
        </p:txBody>
      </p:sp>
      <p:sp>
        <p:nvSpPr>
          <p:cNvPr id="1103989194" name="Text 18"/>
          <p:cNvSpPr/>
          <p:nvPr/>
        </p:nvSpPr>
        <p:spPr bwMode="auto">
          <a:xfrm>
            <a:off x="4800600" y="3364992"/>
            <a:ext cx="3794760" cy="1188720"/>
          </a:xfrm>
          <a:prstGeom prst="rect">
            <a:avLst/>
          </a:prstGeom>
          <a:noFill/>
          <a:ln/>
        </p:spPr>
        <p:txBody>
          <a:bodyPr wrap="square" rtlCol="0" anchor="t"/>
          <a:lstStyle/>
          <a:p>
            <a:pPr marL="0" indent="0">
              <a:buNone/>
              <a:defRPr/>
            </a:pPr>
            <a:r>
              <a:rPr lang="en-US" sz="1100">
                <a:solidFill>
                  <a:srgbClr val="1E293B"/>
                </a:solidFill>
              </a:rPr>
              <a:t>Healthcare models must perform equitably across demographic groups. Auditing by Gender and BMI Category ensures predictions are not systematically biased against any subgroup.</a:t>
            </a:r>
            <a:endParaRPr lang="en-US" sz="11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
    <p:bg>
      <p:bgPr shadeToTitle="0">
        <a:solidFill>
          <a:srgbClr val="FFFFFF"/>
        </a:solidFill>
      </p:bgPr>
    </p:bg>
    <p:spTree>
      <p:nvGrpSpPr>
        <p:cNvPr id="1" name=""/>
        <p:cNvGrpSpPr/>
        <p:nvPr/>
      </p:nvGrpSpPr>
      <p:grpSpPr bwMode="auto">
        <a:xfrm>
          <a:off x="0" y="0"/>
          <a:ext cx="0" cy="0"/>
          <a:chOff x="0" y="0"/>
          <a:chExt cx="0" cy="0"/>
        </a:xfrm>
      </p:grpSpPr>
      <p:sp>
        <p:nvSpPr>
          <p:cNvPr id="503898647" name="Shape 0"/>
          <p:cNvSpPr/>
          <p:nvPr/>
        </p:nvSpPr>
        <p:spPr bwMode="auto">
          <a:xfrm>
            <a:off x="0" y="0"/>
            <a:ext cx="9144000" cy="658368"/>
          </a:xfrm>
          <a:prstGeom prst="rect">
            <a:avLst/>
          </a:prstGeom>
          <a:solidFill>
            <a:srgbClr val="0D1B2A"/>
          </a:solidFill>
          <a:ln w="12700">
            <a:solidFill>
              <a:srgbClr val="0D1B2A"/>
            </a:solidFill>
            <a:prstDash val="solid"/>
          </a:ln>
        </p:spPr>
      </p:sp>
      <p:sp>
        <p:nvSpPr>
          <p:cNvPr id="1088786741" name="Shape 1"/>
          <p:cNvSpPr/>
          <p:nvPr/>
        </p:nvSpPr>
        <p:spPr bwMode="auto">
          <a:xfrm>
            <a:off x="411480" y="118872"/>
            <a:ext cx="347472" cy="347472"/>
          </a:xfrm>
          <a:prstGeom prst="rect">
            <a:avLst/>
          </a:prstGeom>
          <a:solidFill>
            <a:srgbClr val="0A9396"/>
          </a:solidFill>
          <a:ln w="12700">
            <a:solidFill>
              <a:srgbClr val="0A9396"/>
            </a:solidFill>
            <a:prstDash val="solid"/>
          </a:ln>
        </p:spPr>
      </p:sp>
      <p:sp>
        <p:nvSpPr>
          <p:cNvPr id="1654049929" name="Text 2"/>
          <p:cNvSpPr/>
          <p:nvPr/>
        </p:nvSpPr>
        <p:spPr bwMode="auto">
          <a:xfrm>
            <a:off x="411480" y="118872"/>
            <a:ext cx="347472" cy="347472"/>
          </a:xfrm>
          <a:prstGeom prst="rect">
            <a:avLst/>
          </a:prstGeom>
          <a:noFill/>
          <a:ln/>
        </p:spPr>
        <p:txBody>
          <a:bodyPr wrap="square" lIns="0" tIns="0" rIns="0" bIns="0" rtlCol="0" anchor="ctr"/>
          <a:lstStyle/>
          <a:p>
            <a:pPr marL="0" indent="0" algn="ctr">
              <a:buNone/>
              <a:defRPr/>
            </a:pPr>
            <a:r>
              <a:rPr lang="en-US" sz="1400" b="1">
                <a:solidFill>
                  <a:srgbClr val="FFFFFF"/>
                </a:solidFill>
              </a:rPr>
              <a:t>4</a:t>
            </a:r>
            <a:endParaRPr lang="en-US" sz="1400"/>
          </a:p>
        </p:txBody>
      </p:sp>
      <p:sp>
        <p:nvSpPr>
          <p:cNvPr id="281870581" name="Text 3"/>
          <p:cNvSpPr/>
          <p:nvPr/>
        </p:nvSpPr>
        <p:spPr bwMode="auto">
          <a:xfrm>
            <a:off x="868680" y="118872"/>
            <a:ext cx="8046720" cy="347472"/>
          </a:xfrm>
          <a:prstGeom prst="rect">
            <a:avLst/>
          </a:prstGeom>
          <a:noFill/>
          <a:ln/>
        </p:spPr>
        <p:txBody>
          <a:bodyPr wrap="square" lIns="0" tIns="0" rIns="0" bIns="0" rtlCol="0" anchor="ctr"/>
          <a:lstStyle/>
          <a:p>
            <a:pPr marL="0" indent="0">
              <a:buNone/>
              <a:defRPr/>
            </a:pPr>
            <a:r>
              <a:rPr lang="en-US" sz="1800" b="1">
                <a:solidFill>
                  <a:srgbClr val="FFFFFF"/>
                </a:solidFill>
              </a:rPr>
              <a:t>Methods</a:t>
            </a:r>
            <a:endParaRPr lang="en-US" sz="1800"/>
          </a:p>
        </p:txBody>
      </p:sp>
      <p:sp>
        <p:nvSpPr>
          <p:cNvPr id="791263649" name="Shape 4"/>
          <p:cNvSpPr/>
          <p:nvPr/>
        </p:nvSpPr>
        <p:spPr bwMode="auto">
          <a:xfrm>
            <a:off x="0" y="4937760"/>
            <a:ext cx="9144000" cy="201168"/>
          </a:xfrm>
          <a:prstGeom prst="rect">
            <a:avLst/>
          </a:prstGeom>
          <a:solidFill>
            <a:srgbClr val="0A9396"/>
          </a:solidFill>
          <a:ln w="12700">
            <a:solidFill>
              <a:srgbClr val="0A9396"/>
            </a:solidFill>
            <a:prstDash val="solid"/>
          </a:ln>
        </p:spPr>
      </p:sp>
      <p:sp>
        <p:nvSpPr>
          <p:cNvPr id="1079917226" name="Text 5"/>
          <p:cNvSpPr/>
          <p:nvPr/>
        </p:nvSpPr>
        <p:spPr bwMode="auto">
          <a:xfrm>
            <a:off x="274320" y="4937760"/>
            <a:ext cx="8595360" cy="201168"/>
          </a:xfrm>
          <a:prstGeom prst="rect">
            <a:avLst/>
          </a:prstGeom>
          <a:noFill/>
          <a:ln/>
        </p:spPr>
        <p:txBody>
          <a:bodyPr wrap="square" lIns="0" tIns="0" rIns="0" bIns="0" rtlCol="0" anchor="ctr"/>
          <a:lstStyle/>
          <a:p>
            <a:pPr marL="0" indent="0">
              <a:buNone/>
              <a:defRPr/>
            </a:pPr>
            <a:r>
              <a:rPr lang="en-US" sz="800">
                <a:solidFill>
                  <a:srgbClr val="FFFFFF"/>
                </a:solidFill>
              </a:rPr>
              <a:t>Sleep Disorder Classification  |  Final Project</a:t>
            </a:r>
            <a:endParaRPr lang="en-US" sz="800"/>
          </a:p>
        </p:txBody>
      </p:sp>
      <p:sp>
        <p:nvSpPr>
          <p:cNvPr id="829810474" name="Text 6"/>
          <p:cNvSpPr/>
          <p:nvPr/>
        </p:nvSpPr>
        <p:spPr bwMode="auto">
          <a:xfrm>
            <a:off x="457200" y="713232"/>
            <a:ext cx="8229600" cy="274320"/>
          </a:xfrm>
          <a:prstGeom prst="rect">
            <a:avLst/>
          </a:prstGeom>
          <a:noFill/>
          <a:ln/>
        </p:spPr>
        <p:txBody>
          <a:bodyPr wrap="square" rtlCol="0" anchor="ctr"/>
          <a:lstStyle/>
          <a:p>
            <a:pPr marL="0" indent="0">
              <a:buNone/>
              <a:defRPr/>
            </a:pPr>
            <a:r>
              <a:rPr lang="en-US" sz="1000" i="1">
                <a:solidFill>
                  <a:srgbClr val="64748B"/>
                </a:solidFill>
              </a:rPr>
              <a:t>Choice of method and why it works</a:t>
            </a:r>
            <a:endParaRPr lang="en-US" sz="1000"/>
          </a:p>
        </p:txBody>
      </p:sp>
      <p:sp>
        <p:nvSpPr>
          <p:cNvPr id="893519332" name="Shape 7"/>
          <p:cNvSpPr/>
          <p:nvPr/>
        </p:nvSpPr>
        <p:spPr bwMode="auto">
          <a:xfrm>
            <a:off x="137160" y="1005840"/>
            <a:ext cx="1554480" cy="2743200"/>
          </a:xfrm>
          <a:prstGeom prst="rect">
            <a:avLst/>
          </a:prstGeom>
          <a:solidFill>
            <a:srgbClr val="0D1B2A"/>
          </a:solidFill>
          <a:ln w="12700">
            <a:solidFill>
              <a:srgbClr val="0A9396"/>
            </a:solidFill>
            <a:prstDash val="solid"/>
          </a:ln>
          <a:effectLst>
            <a:outerShdw blurRad="101600" dist="38100" dir="8100000" sx="100000" sy="100000" kx="0" ky="0" algn="bl" rotWithShape="0">
              <a:srgbClr val="000000">
                <a:alpha val="13000"/>
              </a:srgbClr>
            </a:outerShdw>
          </a:effectLst>
        </p:spPr>
      </p:sp>
      <p:sp>
        <p:nvSpPr>
          <p:cNvPr id="742723174" name="Shape 8"/>
          <p:cNvSpPr/>
          <p:nvPr/>
        </p:nvSpPr>
        <p:spPr bwMode="auto">
          <a:xfrm>
            <a:off x="685800" y="1115568"/>
            <a:ext cx="457200" cy="457200"/>
          </a:xfrm>
          <a:prstGeom prst="ellipse">
            <a:avLst/>
          </a:prstGeom>
          <a:solidFill>
            <a:srgbClr val="0A9396"/>
          </a:solidFill>
          <a:ln w="12700">
            <a:solidFill>
              <a:srgbClr val="0A9396"/>
            </a:solidFill>
            <a:prstDash val="solid"/>
          </a:ln>
        </p:spPr>
      </p:sp>
      <p:sp>
        <p:nvSpPr>
          <p:cNvPr id="1668469863" name="Text 9"/>
          <p:cNvSpPr/>
          <p:nvPr/>
        </p:nvSpPr>
        <p:spPr bwMode="auto">
          <a:xfrm>
            <a:off x="685800" y="1115568"/>
            <a:ext cx="457200" cy="457200"/>
          </a:xfrm>
          <a:prstGeom prst="rect">
            <a:avLst/>
          </a:prstGeom>
          <a:noFill/>
          <a:ln/>
        </p:spPr>
        <p:txBody>
          <a:bodyPr wrap="square" lIns="0" tIns="0" rIns="0" bIns="0" rtlCol="0" anchor="ctr"/>
          <a:lstStyle/>
          <a:p>
            <a:pPr marL="0" indent="0" algn="ctr">
              <a:buNone/>
              <a:defRPr/>
            </a:pPr>
            <a:r>
              <a:rPr lang="en-US" sz="1400" b="1">
                <a:solidFill>
                  <a:srgbClr val="FFFFFF"/>
                </a:solidFill>
              </a:rPr>
              <a:t>1</a:t>
            </a:r>
            <a:endParaRPr lang="en-US" sz="1400"/>
          </a:p>
        </p:txBody>
      </p:sp>
      <p:sp>
        <p:nvSpPr>
          <p:cNvPr id="578823670" name="Text 10"/>
          <p:cNvSpPr/>
          <p:nvPr/>
        </p:nvSpPr>
        <p:spPr bwMode="auto">
          <a:xfrm>
            <a:off x="228600" y="1664208"/>
            <a:ext cx="1371600" cy="347472"/>
          </a:xfrm>
          <a:prstGeom prst="rect">
            <a:avLst/>
          </a:prstGeom>
          <a:noFill/>
          <a:ln/>
        </p:spPr>
        <p:txBody>
          <a:bodyPr wrap="square" rtlCol="0" anchor="ctr"/>
          <a:lstStyle/>
          <a:p>
            <a:pPr marL="0" indent="0" algn="ctr">
              <a:buNone/>
              <a:defRPr/>
            </a:pPr>
            <a:r>
              <a:rPr lang="en-US" sz="1200" b="1">
                <a:solidFill>
                  <a:srgbClr val="94D2BD"/>
                </a:solidFill>
              </a:rPr>
              <a:t>Data Cleaning</a:t>
            </a:r>
            <a:endParaRPr lang="en-US" sz="1200"/>
          </a:p>
        </p:txBody>
      </p:sp>
      <p:sp>
        <p:nvSpPr>
          <p:cNvPr id="930011080" name="Text 11"/>
          <p:cNvSpPr/>
          <p:nvPr/>
        </p:nvSpPr>
        <p:spPr bwMode="auto">
          <a:xfrm>
            <a:off x="228600" y="2057400"/>
            <a:ext cx="1371600" cy="1554480"/>
          </a:xfrm>
          <a:prstGeom prst="rect">
            <a:avLst/>
          </a:prstGeom>
          <a:noFill/>
          <a:ln/>
        </p:spPr>
        <p:txBody>
          <a:bodyPr wrap="square" rtlCol="0" anchor="t"/>
          <a:lstStyle/>
          <a:p>
            <a:pPr marL="0" indent="0" algn="ctr">
              <a:buNone/>
              <a:defRPr/>
            </a:pPr>
            <a:r>
              <a:rPr lang="en-US" sz="1000">
                <a:solidFill>
                  <a:srgbClr val="FFFFFF"/>
                </a:solidFill>
              </a:rPr>
              <a:t>Fill missing values</a:t>
            </a:r>
            <a:endParaRPr lang="en-US" sz="1000"/>
          </a:p>
          <a:p>
            <a:pPr marL="0" indent="0" algn="ctr">
              <a:buNone/>
              <a:defRPr/>
            </a:pPr>
            <a:r>
              <a:rPr lang="en-US" sz="1000">
                <a:solidFill>
                  <a:srgbClr val="FFFFFF"/>
                </a:solidFill>
              </a:rPr>
              <a:t>Parse Blood Pressure</a:t>
            </a:r>
            <a:endParaRPr lang="en-US" sz="1000"/>
          </a:p>
          <a:p>
            <a:pPr marL="0" indent="0" algn="ctr">
              <a:buNone/>
              <a:defRPr/>
            </a:pPr>
            <a:r>
              <a:rPr lang="en-US" sz="1000">
                <a:solidFill>
                  <a:srgbClr val="FFFFFF"/>
                </a:solidFill>
              </a:rPr>
              <a:t>Remove duplicates</a:t>
            </a:r>
            <a:endParaRPr lang="en-US" sz="1000"/>
          </a:p>
        </p:txBody>
      </p:sp>
      <p:sp>
        <p:nvSpPr>
          <p:cNvPr id="185949700" name="Shape 12"/>
          <p:cNvSpPr/>
          <p:nvPr/>
        </p:nvSpPr>
        <p:spPr bwMode="auto">
          <a:xfrm>
            <a:off x="1691640" y="2304288"/>
            <a:ext cx="274320" cy="54864"/>
          </a:xfrm>
          <a:prstGeom prst="rect">
            <a:avLst/>
          </a:prstGeom>
          <a:solidFill>
            <a:srgbClr val="0A9396"/>
          </a:solidFill>
          <a:ln w="12700">
            <a:solidFill>
              <a:srgbClr val="0A9396"/>
            </a:solidFill>
            <a:prstDash val="solid"/>
          </a:ln>
        </p:spPr>
      </p:sp>
      <p:sp>
        <p:nvSpPr>
          <p:cNvPr id="1577464890" name="Shape 13"/>
          <p:cNvSpPr/>
          <p:nvPr/>
        </p:nvSpPr>
        <p:spPr bwMode="auto">
          <a:xfrm>
            <a:off x="1965960" y="1005840"/>
            <a:ext cx="1554480" cy="2743200"/>
          </a:xfrm>
          <a:prstGeom prst="rect">
            <a:avLst/>
          </a:prstGeom>
          <a:solidFill>
            <a:srgbClr val="0D1B2A"/>
          </a:solidFill>
          <a:ln w="12700">
            <a:solidFill>
              <a:srgbClr val="0A9396"/>
            </a:solidFill>
            <a:prstDash val="solid"/>
          </a:ln>
          <a:effectLst>
            <a:outerShdw blurRad="101600" dist="38100" dir="8100000" sx="100000" sy="100000" kx="0" ky="0" algn="bl" rotWithShape="0">
              <a:srgbClr val="000000">
                <a:alpha val="13000"/>
              </a:srgbClr>
            </a:outerShdw>
          </a:effectLst>
        </p:spPr>
      </p:sp>
      <p:sp>
        <p:nvSpPr>
          <p:cNvPr id="1491092829" name="Shape 14"/>
          <p:cNvSpPr/>
          <p:nvPr/>
        </p:nvSpPr>
        <p:spPr bwMode="auto">
          <a:xfrm>
            <a:off x="2514600" y="1115568"/>
            <a:ext cx="457200" cy="457200"/>
          </a:xfrm>
          <a:prstGeom prst="ellipse">
            <a:avLst/>
          </a:prstGeom>
          <a:solidFill>
            <a:srgbClr val="0A9396"/>
          </a:solidFill>
          <a:ln w="12700">
            <a:solidFill>
              <a:srgbClr val="0A9396"/>
            </a:solidFill>
            <a:prstDash val="solid"/>
          </a:ln>
        </p:spPr>
      </p:sp>
      <p:sp>
        <p:nvSpPr>
          <p:cNvPr id="392987601" name="Text 15"/>
          <p:cNvSpPr/>
          <p:nvPr/>
        </p:nvSpPr>
        <p:spPr bwMode="auto">
          <a:xfrm>
            <a:off x="2514600" y="1115568"/>
            <a:ext cx="457200" cy="457200"/>
          </a:xfrm>
          <a:prstGeom prst="rect">
            <a:avLst/>
          </a:prstGeom>
          <a:noFill/>
          <a:ln/>
        </p:spPr>
        <p:txBody>
          <a:bodyPr wrap="square" lIns="0" tIns="0" rIns="0" bIns="0" rtlCol="0" anchor="ctr"/>
          <a:lstStyle/>
          <a:p>
            <a:pPr marL="0" indent="0" algn="ctr">
              <a:buNone/>
              <a:defRPr/>
            </a:pPr>
            <a:r>
              <a:rPr lang="en-US" sz="1400" b="1">
                <a:solidFill>
                  <a:srgbClr val="FFFFFF"/>
                </a:solidFill>
              </a:rPr>
              <a:t>2</a:t>
            </a:r>
            <a:endParaRPr lang="en-US" sz="1400"/>
          </a:p>
        </p:txBody>
      </p:sp>
      <p:sp>
        <p:nvSpPr>
          <p:cNvPr id="302399574" name="Text 16"/>
          <p:cNvSpPr/>
          <p:nvPr/>
        </p:nvSpPr>
        <p:spPr bwMode="auto">
          <a:xfrm>
            <a:off x="2057400" y="1664208"/>
            <a:ext cx="1371600" cy="347472"/>
          </a:xfrm>
          <a:prstGeom prst="rect">
            <a:avLst/>
          </a:prstGeom>
          <a:noFill/>
          <a:ln/>
        </p:spPr>
        <p:txBody>
          <a:bodyPr wrap="square" rtlCol="0" anchor="ctr"/>
          <a:lstStyle/>
          <a:p>
            <a:pPr marL="0" indent="0" algn="ctr">
              <a:buNone/>
              <a:defRPr/>
            </a:pPr>
            <a:r>
              <a:rPr lang="en-US" sz="1200" b="1">
                <a:solidFill>
                  <a:srgbClr val="94D2BD"/>
                </a:solidFill>
              </a:rPr>
              <a:t>Feature Eng.</a:t>
            </a:r>
            <a:endParaRPr lang="en-US" sz="1200"/>
          </a:p>
        </p:txBody>
      </p:sp>
      <p:sp>
        <p:nvSpPr>
          <p:cNvPr id="222364247" name="Text 17"/>
          <p:cNvSpPr/>
          <p:nvPr/>
        </p:nvSpPr>
        <p:spPr bwMode="auto">
          <a:xfrm>
            <a:off x="2057400" y="2057400"/>
            <a:ext cx="1371600" cy="1554480"/>
          </a:xfrm>
          <a:prstGeom prst="rect">
            <a:avLst/>
          </a:prstGeom>
          <a:noFill/>
          <a:ln/>
        </p:spPr>
        <p:txBody>
          <a:bodyPr wrap="square" rtlCol="0" anchor="t"/>
          <a:lstStyle/>
          <a:p>
            <a:pPr marL="0" indent="0" algn="ctr">
              <a:buNone/>
              <a:defRPr/>
            </a:pPr>
            <a:r>
              <a:rPr lang="en-US" sz="1000">
                <a:solidFill>
                  <a:srgbClr val="FFFFFF"/>
                </a:solidFill>
              </a:rPr>
              <a:t>Label encode categoricals</a:t>
            </a:r>
            <a:endParaRPr lang="en-US" sz="1000"/>
          </a:p>
          <a:p>
            <a:pPr marL="0" indent="0" algn="ctr">
              <a:buNone/>
              <a:defRPr/>
            </a:pPr>
            <a:r>
              <a:rPr lang="en-US" sz="1000">
                <a:solidFill>
                  <a:srgbClr val="FFFFFF"/>
                </a:solidFill>
              </a:rPr>
              <a:t>StandardScaler</a:t>
            </a:r>
            <a:endParaRPr lang="en-US" sz="1000"/>
          </a:p>
          <a:p>
            <a:pPr marL="0" indent="0" algn="ctr">
              <a:buNone/>
              <a:defRPr/>
            </a:pPr>
            <a:r>
              <a:rPr lang="en-US" sz="1000">
                <a:solidFill>
                  <a:srgbClr val="FFFFFF"/>
                </a:solidFill>
              </a:rPr>
              <a:t>80/20 stratified split</a:t>
            </a:r>
            <a:endParaRPr lang="en-US" sz="1000"/>
          </a:p>
        </p:txBody>
      </p:sp>
      <p:sp>
        <p:nvSpPr>
          <p:cNvPr id="16895467" name="Shape 18"/>
          <p:cNvSpPr/>
          <p:nvPr/>
        </p:nvSpPr>
        <p:spPr bwMode="auto">
          <a:xfrm>
            <a:off x="3520440" y="2304288"/>
            <a:ext cx="274320" cy="54864"/>
          </a:xfrm>
          <a:prstGeom prst="rect">
            <a:avLst/>
          </a:prstGeom>
          <a:solidFill>
            <a:srgbClr val="0A9396"/>
          </a:solidFill>
          <a:ln w="12700">
            <a:solidFill>
              <a:srgbClr val="0A9396"/>
            </a:solidFill>
            <a:prstDash val="solid"/>
          </a:ln>
        </p:spPr>
      </p:sp>
      <p:sp>
        <p:nvSpPr>
          <p:cNvPr id="924359291" name="Shape 19"/>
          <p:cNvSpPr/>
          <p:nvPr/>
        </p:nvSpPr>
        <p:spPr bwMode="auto">
          <a:xfrm>
            <a:off x="3794760" y="1005840"/>
            <a:ext cx="1554480" cy="2743200"/>
          </a:xfrm>
          <a:prstGeom prst="rect">
            <a:avLst/>
          </a:prstGeom>
          <a:solidFill>
            <a:srgbClr val="0D1B2A"/>
          </a:solidFill>
          <a:ln w="12700">
            <a:solidFill>
              <a:srgbClr val="0A9396"/>
            </a:solidFill>
            <a:prstDash val="solid"/>
          </a:ln>
          <a:effectLst>
            <a:outerShdw blurRad="101600" dist="38100" dir="8100000" sx="100000" sy="100000" kx="0" ky="0" algn="bl" rotWithShape="0">
              <a:srgbClr val="000000">
                <a:alpha val="13000"/>
              </a:srgbClr>
            </a:outerShdw>
          </a:effectLst>
        </p:spPr>
      </p:sp>
      <p:sp>
        <p:nvSpPr>
          <p:cNvPr id="133231312" name="Shape 20"/>
          <p:cNvSpPr/>
          <p:nvPr/>
        </p:nvSpPr>
        <p:spPr bwMode="auto">
          <a:xfrm>
            <a:off x="4343400" y="1115568"/>
            <a:ext cx="457200" cy="457200"/>
          </a:xfrm>
          <a:prstGeom prst="ellipse">
            <a:avLst/>
          </a:prstGeom>
          <a:solidFill>
            <a:srgbClr val="0A9396"/>
          </a:solidFill>
          <a:ln w="12700">
            <a:solidFill>
              <a:srgbClr val="0A9396"/>
            </a:solidFill>
            <a:prstDash val="solid"/>
          </a:ln>
        </p:spPr>
      </p:sp>
      <p:sp>
        <p:nvSpPr>
          <p:cNvPr id="1171726511" name="Text 21"/>
          <p:cNvSpPr/>
          <p:nvPr/>
        </p:nvSpPr>
        <p:spPr bwMode="auto">
          <a:xfrm>
            <a:off x="4343400" y="1115568"/>
            <a:ext cx="457200" cy="457200"/>
          </a:xfrm>
          <a:prstGeom prst="rect">
            <a:avLst/>
          </a:prstGeom>
          <a:noFill/>
          <a:ln/>
        </p:spPr>
        <p:txBody>
          <a:bodyPr wrap="square" lIns="0" tIns="0" rIns="0" bIns="0" rtlCol="0" anchor="ctr"/>
          <a:lstStyle/>
          <a:p>
            <a:pPr marL="0" indent="0" algn="ctr">
              <a:buNone/>
              <a:defRPr/>
            </a:pPr>
            <a:r>
              <a:rPr lang="en-US" sz="1400" b="1">
                <a:solidFill>
                  <a:srgbClr val="FFFFFF"/>
                </a:solidFill>
              </a:rPr>
              <a:t>3</a:t>
            </a:r>
            <a:endParaRPr lang="en-US" sz="1400"/>
          </a:p>
        </p:txBody>
      </p:sp>
      <p:sp>
        <p:nvSpPr>
          <p:cNvPr id="387534499" name="Text 22"/>
          <p:cNvSpPr/>
          <p:nvPr/>
        </p:nvSpPr>
        <p:spPr bwMode="auto">
          <a:xfrm>
            <a:off x="3886200" y="1664208"/>
            <a:ext cx="1371600" cy="347472"/>
          </a:xfrm>
          <a:prstGeom prst="rect">
            <a:avLst/>
          </a:prstGeom>
          <a:noFill/>
          <a:ln/>
        </p:spPr>
        <p:txBody>
          <a:bodyPr wrap="square" rtlCol="0" anchor="ctr"/>
          <a:lstStyle/>
          <a:p>
            <a:pPr marL="0" indent="0" algn="ctr">
              <a:buNone/>
              <a:defRPr/>
            </a:pPr>
            <a:r>
              <a:rPr lang="en-US" sz="1200" b="1">
                <a:solidFill>
                  <a:srgbClr val="94D2BD"/>
                </a:solidFill>
              </a:rPr>
              <a:t>Random Forest</a:t>
            </a:r>
            <a:endParaRPr lang="en-US" sz="1200"/>
          </a:p>
        </p:txBody>
      </p:sp>
      <p:sp>
        <p:nvSpPr>
          <p:cNvPr id="2001904975" name="Text 23"/>
          <p:cNvSpPr/>
          <p:nvPr/>
        </p:nvSpPr>
        <p:spPr bwMode="auto">
          <a:xfrm>
            <a:off x="3886200" y="2057400"/>
            <a:ext cx="1371600" cy="1554480"/>
          </a:xfrm>
          <a:prstGeom prst="rect">
            <a:avLst/>
          </a:prstGeom>
          <a:noFill/>
          <a:ln/>
        </p:spPr>
        <p:txBody>
          <a:bodyPr wrap="square" rtlCol="0" anchor="t"/>
          <a:lstStyle/>
          <a:p>
            <a:pPr marL="0" indent="0" algn="ctr">
              <a:buNone/>
              <a:defRPr/>
            </a:pPr>
            <a:r>
              <a:rPr lang="en-US" sz="1000">
                <a:solidFill>
                  <a:srgbClr val="FFFFFF"/>
                </a:solidFill>
              </a:rPr>
              <a:t>n_estimators=100</a:t>
            </a:r>
            <a:endParaRPr lang="en-US" sz="1000"/>
          </a:p>
          <a:p>
            <a:pPr marL="0" indent="0" algn="ctr">
              <a:buNone/>
              <a:defRPr/>
            </a:pPr>
            <a:r>
              <a:rPr lang="en-US" sz="1000">
                <a:solidFill>
                  <a:srgbClr val="FFFFFF"/>
                </a:solidFill>
              </a:rPr>
              <a:t>max_depth=15</a:t>
            </a:r>
            <a:endParaRPr lang="en-US" sz="1000"/>
          </a:p>
          <a:p>
            <a:pPr marL="0" indent="0" algn="ctr">
              <a:buNone/>
              <a:defRPr/>
            </a:pPr>
            <a:r>
              <a:rPr lang="en-US" sz="1000">
                <a:solidFill>
                  <a:srgbClr val="FFFFFF"/>
                </a:solidFill>
              </a:rPr>
              <a:t>5-fold CV</a:t>
            </a:r>
            <a:endParaRPr lang="en-US" sz="1000"/>
          </a:p>
        </p:txBody>
      </p:sp>
      <p:sp>
        <p:nvSpPr>
          <p:cNvPr id="1492655755" name="Shape 24"/>
          <p:cNvSpPr/>
          <p:nvPr/>
        </p:nvSpPr>
        <p:spPr bwMode="auto">
          <a:xfrm>
            <a:off x="5349240" y="2304288"/>
            <a:ext cx="274320" cy="54864"/>
          </a:xfrm>
          <a:prstGeom prst="rect">
            <a:avLst/>
          </a:prstGeom>
          <a:solidFill>
            <a:srgbClr val="0A9396"/>
          </a:solidFill>
          <a:ln w="12700">
            <a:solidFill>
              <a:srgbClr val="0A9396"/>
            </a:solidFill>
            <a:prstDash val="solid"/>
          </a:ln>
        </p:spPr>
      </p:sp>
      <p:sp>
        <p:nvSpPr>
          <p:cNvPr id="1299104192" name="Shape 25"/>
          <p:cNvSpPr/>
          <p:nvPr/>
        </p:nvSpPr>
        <p:spPr bwMode="auto">
          <a:xfrm>
            <a:off x="5623560" y="1005840"/>
            <a:ext cx="1554480" cy="2743200"/>
          </a:xfrm>
          <a:prstGeom prst="rect">
            <a:avLst/>
          </a:prstGeom>
          <a:solidFill>
            <a:srgbClr val="0D1B2A"/>
          </a:solidFill>
          <a:ln w="12700">
            <a:solidFill>
              <a:srgbClr val="0A9396"/>
            </a:solidFill>
            <a:prstDash val="solid"/>
          </a:ln>
          <a:effectLst>
            <a:outerShdw blurRad="101600" dist="38100" dir="8100000" sx="100000" sy="100000" kx="0" ky="0" algn="bl" rotWithShape="0">
              <a:srgbClr val="000000">
                <a:alpha val="13000"/>
              </a:srgbClr>
            </a:outerShdw>
          </a:effectLst>
        </p:spPr>
      </p:sp>
      <p:sp>
        <p:nvSpPr>
          <p:cNvPr id="1340291605" name="Shape 26"/>
          <p:cNvSpPr/>
          <p:nvPr/>
        </p:nvSpPr>
        <p:spPr bwMode="auto">
          <a:xfrm>
            <a:off x="6172200" y="1115568"/>
            <a:ext cx="457200" cy="457200"/>
          </a:xfrm>
          <a:prstGeom prst="ellipse">
            <a:avLst/>
          </a:prstGeom>
          <a:solidFill>
            <a:srgbClr val="0A9396"/>
          </a:solidFill>
          <a:ln w="12700">
            <a:solidFill>
              <a:srgbClr val="0A9396"/>
            </a:solidFill>
            <a:prstDash val="solid"/>
          </a:ln>
        </p:spPr>
      </p:sp>
      <p:sp>
        <p:nvSpPr>
          <p:cNvPr id="1013631054" name="Text 27"/>
          <p:cNvSpPr/>
          <p:nvPr/>
        </p:nvSpPr>
        <p:spPr bwMode="auto">
          <a:xfrm>
            <a:off x="6172200" y="1115568"/>
            <a:ext cx="457200" cy="457200"/>
          </a:xfrm>
          <a:prstGeom prst="rect">
            <a:avLst/>
          </a:prstGeom>
          <a:noFill/>
          <a:ln/>
        </p:spPr>
        <p:txBody>
          <a:bodyPr wrap="square" lIns="0" tIns="0" rIns="0" bIns="0" rtlCol="0" anchor="ctr"/>
          <a:lstStyle/>
          <a:p>
            <a:pPr marL="0" indent="0" algn="ctr">
              <a:buNone/>
              <a:defRPr/>
            </a:pPr>
            <a:r>
              <a:rPr lang="en-US" sz="1400" b="1">
                <a:solidFill>
                  <a:srgbClr val="FFFFFF"/>
                </a:solidFill>
              </a:rPr>
              <a:t>4</a:t>
            </a:r>
            <a:endParaRPr lang="en-US" sz="1400"/>
          </a:p>
        </p:txBody>
      </p:sp>
      <p:sp>
        <p:nvSpPr>
          <p:cNvPr id="373688980" name="Text 28"/>
          <p:cNvSpPr/>
          <p:nvPr/>
        </p:nvSpPr>
        <p:spPr bwMode="auto">
          <a:xfrm>
            <a:off x="5715000" y="1664208"/>
            <a:ext cx="1371600" cy="347472"/>
          </a:xfrm>
          <a:prstGeom prst="rect">
            <a:avLst/>
          </a:prstGeom>
          <a:noFill/>
          <a:ln/>
        </p:spPr>
        <p:txBody>
          <a:bodyPr wrap="square" rtlCol="0" anchor="ctr"/>
          <a:lstStyle/>
          <a:p>
            <a:pPr marL="0" indent="0" algn="ctr">
              <a:buNone/>
              <a:defRPr/>
            </a:pPr>
            <a:r>
              <a:rPr lang="en-US" sz="1200" b="1">
                <a:solidFill>
                  <a:srgbClr val="94D2BD"/>
                </a:solidFill>
              </a:rPr>
              <a:t>XGBoost</a:t>
            </a:r>
            <a:endParaRPr lang="en-US" sz="1200"/>
          </a:p>
        </p:txBody>
      </p:sp>
      <p:sp>
        <p:nvSpPr>
          <p:cNvPr id="1709880661" name="Text 29"/>
          <p:cNvSpPr/>
          <p:nvPr/>
        </p:nvSpPr>
        <p:spPr bwMode="auto">
          <a:xfrm>
            <a:off x="5715000" y="2057400"/>
            <a:ext cx="1371600" cy="1554480"/>
          </a:xfrm>
          <a:prstGeom prst="rect">
            <a:avLst/>
          </a:prstGeom>
          <a:noFill/>
          <a:ln/>
        </p:spPr>
        <p:txBody>
          <a:bodyPr wrap="square" rtlCol="0" anchor="t"/>
          <a:lstStyle/>
          <a:p>
            <a:pPr marL="0" indent="0" algn="ctr">
              <a:buNone/>
              <a:defRPr/>
            </a:pPr>
            <a:r>
              <a:rPr lang="en-US" sz="1000">
                <a:solidFill>
                  <a:srgbClr val="FFFFFF"/>
                </a:solidFill>
              </a:rPr>
              <a:t>n_estimators=100</a:t>
            </a:r>
            <a:endParaRPr lang="en-US" sz="1000"/>
          </a:p>
          <a:p>
            <a:pPr marL="0" indent="0" algn="ctr">
              <a:buNone/>
              <a:defRPr/>
            </a:pPr>
            <a:r>
              <a:rPr lang="en-US" sz="1000">
                <a:solidFill>
                  <a:srgbClr val="FFFFFF"/>
                </a:solidFill>
              </a:rPr>
              <a:t>lr=0.1, depth=6</a:t>
            </a:r>
            <a:endParaRPr lang="en-US" sz="1000"/>
          </a:p>
          <a:p>
            <a:pPr marL="0" indent="0" algn="ctr">
              <a:buNone/>
              <a:defRPr/>
            </a:pPr>
            <a:r>
              <a:rPr lang="en-US" sz="1000">
                <a:solidFill>
                  <a:srgbClr val="FFFFFF"/>
                </a:solidFill>
              </a:rPr>
              <a:t>5-fold CV</a:t>
            </a:r>
            <a:endParaRPr lang="en-US" sz="1000"/>
          </a:p>
        </p:txBody>
      </p:sp>
      <p:sp>
        <p:nvSpPr>
          <p:cNvPr id="295475314" name="Shape 30"/>
          <p:cNvSpPr/>
          <p:nvPr/>
        </p:nvSpPr>
        <p:spPr bwMode="auto">
          <a:xfrm>
            <a:off x="7178039" y="2304288"/>
            <a:ext cx="274320" cy="54864"/>
          </a:xfrm>
          <a:prstGeom prst="rect">
            <a:avLst/>
          </a:prstGeom>
          <a:solidFill>
            <a:srgbClr val="0A9396"/>
          </a:solidFill>
          <a:ln w="12700">
            <a:solidFill>
              <a:srgbClr val="0A9396"/>
            </a:solidFill>
            <a:prstDash val="solid"/>
          </a:ln>
        </p:spPr>
      </p:sp>
      <p:sp>
        <p:nvSpPr>
          <p:cNvPr id="1689541713" name="Shape 31"/>
          <p:cNvSpPr/>
          <p:nvPr/>
        </p:nvSpPr>
        <p:spPr bwMode="auto">
          <a:xfrm>
            <a:off x="7452360" y="1005840"/>
            <a:ext cx="1554480" cy="2743200"/>
          </a:xfrm>
          <a:prstGeom prst="rect">
            <a:avLst/>
          </a:prstGeom>
          <a:solidFill>
            <a:srgbClr val="0D1B2A"/>
          </a:solidFill>
          <a:ln w="12700">
            <a:solidFill>
              <a:srgbClr val="0A9396"/>
            </a:solidFill>
            <a:prstDash val="solid"/>
          </a:ln>
          <a:effectLst>
            <a:outerShdw blurRad="101600" dist="38100" dir="8100000" sx="100000" sy="100000" kx="0" ky="0" algn="bl" rotWithShape="0">
              <a:srgbClr val="000000">
                <a:alpha val="13000"/>
              </a:srgbClr>
            </a:outerShdw>
          </a:effectLst>
        </p:spPr>
      </p:sp>
      <p:sp>
        <p:nvSpPr>
          <p:cNvPr id="2056146896" name="Shape 32"/>
          <p:cNvSpPr/>
          <p:nvPr/>
        </p:nvSpPr>
        <p:spPr bwMode="auto">
          <a:xfrm>
            <a:off x="8001000" y="1115568"/>
            <a:ext cx="457200" cy="457200"/>
          </a:xfrm>
          <a:prstGeom prst="ellipse">
            <a:avLst/>
          </a:prstGeom>
          <a:solidFill>
            <a:srgbClr val="0A9396"/>
          </a:solidFill>
          <a:ln w="12700">
            <a:solidFill>
              <a:srgbClr val="0A9396"/>
            </a:solidFill>
            <a:prstDash val="solid"/>
          </a:ln>
        </p:spPr>
      </p:sp>
      <p:sp>
        <p:nvSpPr>
          <p:cNvPr id="637528458" name="Text 33"/>
          <p:cNvSpPr/>
          <p:nvPr/>
        </p:nvSpPr>
        <p:spPr bwMode="auto">
          <a:xfrm>
            <a:off x="8001000" y="1115568"/>
            <a:ext cx="457200" cy="457200"/>
          </a:xfrm>
          <a:prstGeom prst="rect">
            <a:avLst/>
          </a:prstGeom>
          <a:noFill/>
          <a:ln/>
        </p:spPr>
        <p:txBody>
          <a:bodyPr wrap="square" lIns="0" tIns="0" rIns="0" bIns="0" rtlCol="0" anchor="ctr"/>
          <a:lstStyle/>
          <a:p>
            <a:pPr marL="0" indent="0" algn="ctr">
              <a:buNone/>
              <a:defRPr/>
            </a:pPr>
            <a:r>
              <a:rPr lang="en-US" sz="1400" b="1">
                <a:solidFill>
                  <a:srgbClr val="FFFFFF"/>
                </a:solidFill>
              </a:rPr>
              <a:t>5</a:t>
            </a:r>
            <a:endParaRPr lang="en-US" sz="1400"/>
          </a:p>
        </p:txBody>
      </p:sp>
      <p:sp>
        <p:nvSpPr>
          <p:cNvPr id="829239722" name="Text 34"/>
          <p:cNvSpPr/>
          <p:nvPr/>
        </p:nvSpPr>
        <p:spPr bwMode="auto">
          <a:xfrm>
            <a:off x="7543800" y="1664208"/>
            <a:ext cx="1371600" cy="347472"/>
          </a:xfrm>
          <a:prstGeom prst="rect">
            <a:avLst/>
          </a:prstGeom>
          <a:noFill/>
          <a:ln/>
        </p:spPr>
        <p:txBody>
          <a:bodyPr wrap="square" rtlCol="0" anchor="ctr"/>
          <a:lstStyle/>
          <a:p>
            <a:pPr marL="0" indent="0" algn="ctr">
              <a:buNone/>
              <a:defRPr/>
            </a:pPr>
            <a:r>
              <a:rPr lang="en-US" sz="1200" b="1">
                <a:solidFill>
                  <a:srgbClr val="94D2BD"/>
                </a:solidFill>
              </a:rPr>
              <a:t>Evaluation</a:t>
            </a:r>
            <a:endParaRPr lang="en-US" sz="1200"/>
          </a:p>
        </p:txBody>
      </p:sp>
      <p:sp>
        <p:nvSpPr>
          <p:cNvPr id="569544880" name="Text 35"/>
          <p:cNvSpPr/>
          <p:nvPr/>
        </p:nvSpPr>
        <p:spPr bwMode="auto">
          <a:xfrm>
            <a:off x="7543800" y="2057400"/>
            <a:ext cx="1371600" cy="1554480"/>
          </a:xfrm>
          <a:prstGeom prst="rect">
            <a:avLst/>
          </a:prstGeom>
          <a:noFill/>
          <a:ln/>
        </p:spPr>
        <p:txBody>
          <a:bodyPr wrap="square" rtlCol="0" anchor="t"/>
          <a:lstStyle/>
          <a:p>
            <a:pPr marL="0" indent="0" algn="ctr">
              <a:buNone/>
              <a:defRPr/>
            </a:pPr>
            <a:r>
              <a:rPr lang="en-US" sz="1000">
                <a:solidFill>
                  <a:srgbClr val="FFFFFF"/>
                </a:solidFill>
              </a:rPr>
              <a:t>Accuracy, F1</a:t>
            </a:r>
            <a:endParaRPr lang="en-US" sz="1000"/>
          </a:p>
          <a:p>
            <a:pPr marL="0" indent="0" algn="ctr">
              <a:buNone/>
              <a:defRPr/>
            </a:pPr>
            <a:r>
              <a:rPr lang="en-US" sz="1000">
                <a:solidFill>
                  <a:srgbClr val="FFFFFF"/>
                </a:solidFill>
              </a:rPr>
              <a:t>ROC-AUC OvR</a:t>
            </a:r>
            <a:endParaRPr lang="en-US" sz="1000"/>
          </a:p>
          <a:p>
            <a:pPr marL="0" indent="0" algn="ctr">
              <a:buNone/>
              <a:defRPr/>
            </a:pPr>
            <a:r>
              <a:rPr lang="en-US" sz="1000">
                <a:solidFill>
                  <a:srgbClr val="FFFFFF"/>
                </a:solidFill>
              </a:rPr>
              <a:t>Fairness audit</a:t>
            </a:r>
            <a:endParaRPr lang="en-US" sz="1000"/>
          </a:p>
        </p:txBody>
      </p:sp>
      <p:sp>
        <p:nvSpPr>
          <p:cNvPr id="1553966233" name="Shape 36"/>
          <p:cNvSpPr/>
          <p:nvPr/>
        </p:nvSpPr>
        <p:spPr bwMode="auto">
          <a:xfrm>
            <a:off x="320040" y="3931920"/>
            <a:ext cx="8503920" cy="685800"/>
          </a:xfrm>
          <a:prstGeom prst="rect">
            <a:avLst/>
          </a:prstGeom>
          <a:solidFill>
            <a:srgbClr val="E9F5F6"/>
          </a:solidFill>
          <a:ln w="12700">
            <a:solidFill>
              <a:srgbClr val="94D2BD"/>
            </a:solidFill>
            <a:prstDash val="solid"/>
          </a:ln>
        </p:spPr>
      </p:sp>
      <p:sp>
        <p:nvSpPr>
          <p:cNvPr id="932531833" name="Text 37"/>
          <p:cNvSpPr/>
          <p:nvPr/>
        </p:nvSpPr>
        <p:spPr bwMode="auto">
          <a:xfrm>
            <a:off x="457200" y="3995928"/>
            <a:ext cx="2011680" cy="274320"/>
          </a:xfrm>
          <a:prstGeom prst="rect">
            <a:avLst/>
          </a:prstGeom>
          <a:noFill/>
          <a:ln/>
        </p:spPr>
        <p:txBody>
          <a:bodyPr wrap="square" rtlCol="0" anchor="ctr"/>
          <a:lstStyle/>
          <a:p>
            <a:pPr marL="0" indent="0">
              <a:buNone/>
              <a:defRPr/>
            </a:pPr>
            <a:r>
              <a:rPr lang="en-US" sz="1100" b="1">
                <a:solidFill>
                  <a:srgbClr val="0A9396"/>
                </a:solidFill>
              </a:rPr>
              <a:t>Why Tree-Based Models? </a:t>
            </a:r>
            <a:endParaRPr lang="en-US" sz="1100"/>
          </a:p>
        </p:txBody>
      </p:sp>
      <p:sp>
        <p:nvSpPr>
          <p:cNvPr id="535157529" name="Text 38"/>
          <p:cNvSpPr/>
          <p:nvPr/>
        </p:nvSpPr>
        <p:spPr bwMode="auto">
          <a:xfrm>
            <a:off x="2423160" y="3995928"/>
            <a:ext cx="6263640" cy="502920"/>
          </a:xfrm>
          <a:prstGeom prst="rect">
            <a:avLst/>
          </a:prstGeom>
          <a:noFill/>
          <a:ln/>
        </p:spPr>
        <p:txBody>
          <a:bodyPr wrap="square" rtlCol="0" anchor="ctr"/>
          <a:lstStyle/>
          <a:p>
            <a:pPr marL="0" indent="0">
              <a:buNone/>
              <a:defRPr/>
            </a:pPr>
            <a:r>
              <a:rPr lang="en-US" sz="1000">
                <a:solidFill>
                  <a:srgbClr val="1E293B"/>
                </a:solidFill>
              </a:rPr>
              <a:t>Both RF and XGBoost handle mixed data types natively, are robust to outliers, provide feature importances for interpretability, and consistently outperform baselines on tabular medical data without requiring extensive hyperparameter tuning.</a:t>
            </a:r>
            <a:endParaRPr lang="en-US" sz="1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6">
    <p:bg>
      <p:bgPr shadeToTitle="0">
        <a:solidFill>
          <a:srgbClr val="FFFFFF"/>
        </a:solidFill>
      </p:bgPr>
    </p:bg>
    <p:spTree>
      <p:nvGrpSpPr>
        <p:cNvPr id="1" name=""/>
        <p:cNvGrpSpPr/>
        <p:nvPr/>
      </p:nvGrpSpPr>
      <p:grpSpPr bwMode="auto">
        <a:xfrm>
          <a:off x="0" y="0"/>
          <a:ext cx="0" cy="0"/>
          <a:chOff x="0" y="0"/>
          <a:chExt cx="0" cy="0"/>
        </a:xfrm>
      </p:grpSpPr>
      <p:sp>
        <p:nvSpPr>
          <p:cNvPr id="543550314" name="Shape 0"/>
          <p:cNvSpPr/>
          <p:nvPr/>
        </p:nvSpPr>
        <p:spPr bwMode="auto">
          <a:xfrm>
            <a:off x="0" y="0"/>
            <a:ext cx="9144000" cy="658368"/>
          </a:xfrm>
          <a:prstGeom prst="rect">
            <a:avLst/>
          </a:prstGeom>
          <a:solidFill>
            <a:srgbClr val="0D1B2A"/>
          </a:solidFill>
          <a:ln w="12700">
            <a:solidFill>
              <a:srgbClr val="0D1B2A"/>
            </a:solidFill>
            <a:prstDash val="solid"/>
          </a:ln>
        </p:spPr>
      </p:sp>
      <p:sp>
        <p:nvSpPr>
          <p:cNvPr id="1403324280" name="Shape 1"/>
          <p:cNvSpPr/>
          <p:nvPr/>
        </p:nvSpPr>
        <p:spPr bwMode="auto">
          <a:xfrm>
            <a:off x="411480" y="118872"/>
            <a:ext cx="347472" cy="347472"/>
          </a:xfrm>
          <a:prstGeom prst="rect">
            <a:avLst/>
          </a:prstGeom>
          <a:solidFill>
            <a:srgbClr val="0A9396"/>
          </a:solidFill>
          <a:ln w="12700">
            <a:solidFill>
              <a:srgbClr val="0A9396"/>
            </a:solidFill>
            <a:prstDash val="solid"/>
          </a:ln>
        </p:spPr>
      </p:sp>
      <p:sp>
        <p:nvSpPr>
          <p:cNvPr id="227218043" name="Text 2"/>
          <p:cNvSpPr/>
          <p:nvPr/>
        </p:nvSpPr>
        <p:spPr bwMode="auto">
          <a:xfrm>
            <a:off x="411480" y="118872"/>
            <a:ext cx="347472" cy="347472"/>
          </a:xfrm>
          <a:prstGeom prst="rect">
            <a:avLst/>
          </a:prstGeom>
          <a:noFill/>
          <a:ln/>
        </p:spPr>
        <p:txBody>
          <a:bodyPr wrap="square" lIns="0" tIns="0" rIns="0" bIns="0" rtlCol="0" anchor="ctr"/>
          <a:lstStyle/>
          <a:p>
            <a:pPr marL="0" indent="0" algn="ctr">
              <a:buNone/>
              <a:defRPr/>
            </a:pPr>
            <a:r>
              <a:rPr lang="en-US" sz="1400" b="1">
                <a:solidFill>
                  <a:srgbClr val="FFFFFF"/>
                </a:solidFill>
              </a:rPr>
              <a:t>5</a:t>
            </a:r>
            <a:endParaRPr lang="en-US" sz="1400"/>
          </a:p>
        </p:txBody>
      </p:sp>
      <p:sp>
        <p:nvSpPr>
          <p:cNvPr id="774329194" name="Text 3"/>
          <p:cNvSpPr/>
          <p:nvPr/>
        </p:nvSpPr>
        <p:spPr bwMode="auto">
          <a:xfrm>
            <a:off x="868680" y="118872"/>
            <a:ext cx="8046720" cy="347472"/>
          </a:xfrm>
          <a:prstGeom prst="rect">
            <a:avLst/>
          </a:prstGeom>
          <a:noFill/>
          <a:ln/>
        </p:spPr>
        <p:txBody>
          <a:bodyPr wrap="square" lIns="0" tIns="0" rIns="0" bIns="0" rtlCol="0" anchor="ctr"/>
          <a:lstStyle/>
          <a:p>
            <a:pPr marL="0" indent="0">
              <a:buNone/>
              <a:defRPr/>
            </a:pPr>
            <a:r>
              <a:rPr lang="en-US" sz="1800" b="1">
                <a:solidFill>
                  <a:srgbClr val="FFFFFF"/>
                </a:solidFill>
              </a:rPr>
              <a:t>Results</a:t>
            </a:r>
            <a:endParaRPr lang="en-US" sz="1800"/>
          </a:p>
        </p:txBody>
      </p:sp>
      <p:sp>
        <p:nvSpPr>
          <p:cNvPr id="2047737269" name="Shape 4"/>
          <p:cNvSpPr/>
          <p:nvPr/>
        </p:nvSpPr>
        <p:spPr bwMode="auto">
          <a:xfrm>
            <a:off x="0" y="4937760"/>
            <a:ext cx="9144000" cy="201168"/>
          </a:xfrm>
          <a:prstGeom prst="rect">
            <a:avLst/>
          </a:prstGeom>
          <a:solidFill>
            <a:srgbClr val="0A9396"/>
          </a:solidFill>
          <a:ln w="12700">
            <a:solidFill>
              <a:srgbClr val="0A9396"/>
            </a:solidFill>
            <a:prstDash val="solid"/>
          </a:ln>
        </p:spPr>
      </p:sp>
      <p:sp>
        <p:nvSpPr>
          <p:cNvPr id="746702126" name="Text 5"/>
          <p:cNvSpPr/>
          <p:nvPr/>
        </p:nvSpPr>
        <p:spPr bwMode="auto">
          <a:xfrm>
            <a:off x="274320" y="4937760"/>
            <a:ext cx="8595360" cy="201168"/>
          </a:xfrm>
          <a:prstGeom prst="rect">
            <a:avLst/>
          </a:prstGeom>
          <a:noFill/>
          <a:ln/>
        </p:spPr>
        <p:txBody>
          <a:bodyPr wrap="square" lIns="0" tIns="0" rIns="0" bIns="0" rtlCol="0" anchor="ctr"/>
          <a:lstStyle/>
          <a:p>
            <a:pPr marL="0" indent="0">
              <a:buNone/>
              <a:defRPr/>
            </a:pPr>
            <a:r>
              <a:rPr lang="en-US" sz="800">
                <a:solidFill>
                  <a:srgbClr val="FFFFFF"/>
                </a:solidFill>
              </a:rPr>
              <a:t>Sleep Disorder Classification  |  Final Project</a:t>
            </a:r>
            <a:endParaRPr lang="en-US" sz="800"/>
          </a:p>
        </p:txBody>
      </p:sp>
      <p:sp>
        <p:nvSpPr>
          <p:cNvPr id="89274850" name="Text 6"/>
          <p:cNvSpPr/>
          <p:nvPr/>
        </p:nvSpPr>
        <p:spPr bwMode="auto">
          <a:xfrm>
            <a:off x="457200" y="713232"/>
            <a:ext cx="8229600" cy="274320"/>
          </a:xfrm>
          <a:prstGeom prst="rect">
            <a:avLst/>
          </a:prstGeom>
          <a:noFill/>
          <a:ln/>
        </p:spPr>
        <p:txBody>
          <a:bodyPr wrap="square" rtlCol="0" anchor="ctr"/>
          <a:lstStyle/>
          <a:p>
            <a:pPr marL="0" indent="0">
              <a:buNone/>
              <a:defRPr/>
            </a:pPr>
            <a:r>
              <a:rPr lang="en-US" sz="1000" i="1">
                <a:solidFill>
                  <a:srgbClr val="64748B"/>
                </a:solidFill>
              </a:rPr>
              <a:t>Model performance on the held-out test set</a:t>
            </a:r>
            <a:endParaRPr lang="en-US" sz="1000"/>
          </a:p>
        </p:txBody>
      </p:sp>
      <p:sp>
        <p:nvSpPr>
          <p:cNvPr id="88653858" name="Shape 7"/>
          <p:cNvSpPr/>
          <p:nvPr/>
        </p:nvSpPr>
        <p:spPr bwMode="auto">
          <a:xfrm>
            <a:off x="320040" y="1005840"/>
            <a:ext cx="5029200" cy="3474720"/>
          </a:xfrm>
          <a:prstGeom prst="rect">
            <a:avLst/>
          </a:prstGeom>
          <a:solidFill>
            <a:srgbClr val="E9F5F6"/>
          </a:solidFill>
          <a:ln w="12700">
            <a:solidFill>
              <a:srgbClr val="94D2BD"/>
            </a:solidFill>
            <a:prstDash val="solid"/>
          </a:ln>
          <a:effectLst>
            <a:outerShdw blurRad="101600" dist="38100" dir="8100000" sx="100000" sy="100000" kx="0" ky="0" algn="bl" rotWithShape="0">
              <a:srgbClr val="000000">
                <a:alpha val="13000"/>
              </a:srgbClr>
            </a:outerShdw>
          </a:effectLst>
        </p:spPr>
      </p:sp>
      <p:sp>
        <p:nvSpPr>
          <p:cNvPr id="1881715719" name="Text 8"/>
          <p:cNvSpPr/>
          <p:nvPr/>
        </p:nvSpPr>
        <p:spPr bwMode="auto">
          <a:xfrm>
            <a:off x="457200" y="1078992"/>
            <a:ext cx="4709160" cy="320040"/>
          </a:xfrm>
          <a:prstGeom prst="rect">
            <a:avLst/>
          </a:prstGeom>
          <a:noFill/>
          <a:ln/>
        </p:spPr>
        <p:txBody>
          <a:bodyPr wrap="square" rtlCol="0" anchor="ctr"/>
          <a:lstStyle/>
          <a:p>
            <a:pPr marL="0" indent="0">
              <a:buNone/>
              <a:defRPr/>
            </a:pPr>
            <a:r>
              <a:rPr lang="en-US" sz="1300" b="1">
                <a:solidFill>
                  <a:srgbClr val="0D1B2A"/>
                </a:solidFill>
              </a:rPr>
              <a:t>Performance Summary</a:t>
            </a:r>
            <a:endParaRPr lang="en-US" sz="1300"/>
          </a:p>
        </p:txBody>
      </p:sp>
      <p:graphicFrame>
        <p:nvGraphicFramePr>
          <p:cNvPr id="1354929978" name="Table 0"/>
          <p:cNvGraphicFramePr>
            <a:graphicFrameLocks xmlns:a="http://schemas.openxmlformats.org/drawingml/2006/main" noGrp="1"/>
          </p:cNvGraphicFramePr>
          <p:nvPr/>
        </p:nvGraphicFramePr>
        <p:xfrm rot="0">
          <a:off x="457200" y="1463040"/>
          <a:ext cx="4572000" cy="2377440"/>
        </p:xfrm>
        <a:graphic>
          <a:graphicData uri="http://schemas.openxmlformats.org/drawingml/2006/table">
            <a:tbl>
              <a:tblPr firstRow="0" firstCol="0" lastRow="0" lastCol="0" bandRow="0" bandCol="0"/>
              <a:tblGrid>
                <a:gridCol w="1524000"/>
                <a:gridCol w="1524000"/>
                <a:gridCol w="1524000"/>
              </a:tblGrid>
              <a:tr h="384048">
                <a:tc>
                  <a:txBody>
                    <a:bodyPr/>
                    <a:p>
                      <a:pPr marL="0" indent="0" algn="ctr">
                        <a:buNone/>
                        <a:defRPr/>
                      </a:pPr>
                      <a:r>
                        <a:rPr lang="en-US" sz="1100" b="1">
                          <a:solidFill>
                            <a:srgbClr val="FFFFFF"/>
                          </a:solidFill>
                          <a:latin typeface="Calibri"/>
                          <a:ea typeface="Calibri"/>
                          <a:cs typeface="Calibri"/>
                        </a:rPr>
                        <a:t>Metric</a:t>
                      </a:r>
                      <a:endParaRPr lang="en-US" sz="1100">
                        <a:latin typeface="Calibri"/>
                        <a:ea typeface="Calibri"/>
                        <a:cs typeface="Calibri"/>
                      </a:endParaRPr>
                    </a:p>
                  </a:txBody>
                  <a:tcPr marL="91440" marR="91440" marT="45720" marB="45720">
                    <a:lnL w="12700" algn="ctr">
                      <a:solidFill>
                        <a:srgbClr val="94D2BD"/>
                      </a:solidFill>
                    </a:lnL>
                    <a:lnR w="12700" algn="ctr">
                      <a:solidFill>
                        <a:srgbClr val="94D2BD"/>
                      </a:solidFill>
                    </a:lnR>
                    <a:lnT w="12700" algn="ctr">
                      <a:solidFill>
                        <a:srgbClr val="94D2BD"/>
                      </a:solidFill>
                    </a:lnT>
                    <a:lnB w="12700" algn="ctr">
                      <a:solidFill>
                        <a:srgbClr val="94D2BD"/>
                      </a:solidFill>
                    </a:lnB>
                    <a:solidFill>
                      <a:srgbClr val="0D1B2A"/>
                    </a:solidFill>
                  </a:tcPr>
                </a:tc>
                <a:tc>
                  <a:txBody>
                    <a:bodyPr/>
                    <a:p>
                      <a:pPr marL="0" indent="0" algn="ctr">
                        <a:buNone/>
                        <a:defRPr/>
                      </a:pPr>
                      <a:r>
                        <a:rPr lang="en-US" sz="1100" b="1">
                          <a:solidFill>
                            <a:srgbClr val="FFFFFF"/>
                          </a:solidFill>
                          <a:latin typeface="Calibri"/>
                          <a:ea typeface="Calibri"/>
                          <a:cs typeface="Calibri"/>
                        </a:rPr>
                        <a:t>Random Forest</a:t>
                      </a:r>
                      <a:endParaRPr lang="en-US" sz="1100">
                        <a:latin typeface="Calibri"/>
                        <a:ea typeface="Calibri"/>
                        <a:cs typeface="Calibri"/>
                      </a:endParaRPr>
                    </a:p>
                  </a:txBody>
                  <a:tcPr marL="91440" marR="91440" marT="45720" marB="45720">
                    <a:lnL w="12700" algn="ctr">
                      <a:solidFill>
                        <a:srgbClr val="94D2BD"/>
                      </a:solidFill>
                    </a:lnL>
                    <a:lnR w="12700" algn="ctr">
                      <a:solidFill>
                        <a:srgbClr val="94D2BD"/>
                      </a:solidFill>
                    </a:lnR>
                    <a:lnT w="12700" algn="ctr">
                      <a:solidFill>
                        <a:srgbClr val="94D2BD"/>
                      </a:solidFill>
                    </a:lnT>
                    <a:lnB w="12700" algn="ctr">
                      <a:solidFill>
                        <a:srgbClr val="94D2BD"/>
                      </a:solidFill>
                    </a:lnB>
                    <a:solidFill>
                      <a:srgbClr val="0D1B2A"/>
                    </a:solidFill>
                  </a:tcPr>
                </a:tc>
                <a:tc>
                  <a:txBody>
                    <a:bodyPr/>
                    <a:p>
                      <a:pPr marL="0" indent="0" algn="ctr">
                        <a:buNone/>
                        <a:defRPr/>
                      </a:pPr>
                      <a:r>
                        <a:rPr lang="en-US" sz="1100" b="1">
                          <a:solidFill>
                            <a:srgbClr val="FFFFFF"/>
                          </a:solidFill>
                          <a:latin typeface="Calibri"/>
                          <a:ea typeface="Calibri"/>
                          <a:cs typeface="Calibri"/>
                        </a:rPr>
                        <a:t>XGBoost</a:t>
                      </a:r>
                      <a:endParaRPr lang="en-US" sz="1100">
                        <a:latin typeface="Calibri"/>
                        <a:ea typeface="Calibri"/>
                        <a:cs typeface="Calibri"/>
                      </a:endParaRPr>
                    </a:p>
                  </a:txBody>
                  <a:tcPr marL="91440" marR="91440" marT="45720" marB="45720">
                    <a:lnL w="12700" algn="ctr">
                      <a:solidFill>
                        <a:srgbClr val="94D2BD"/>
                      </a:solidFill>
                    </a:lnL>
                    <a:lnR w="12700" algn="ctr">
                      <a:solidFill>
                        <a:srgbClr val="94D2BD"/>
                      </a:solidFill>
                    </a:lnR>
                    <a:lnT w="12700" algn="ctr">
                      <a:solidFill>
                        <a:srgbClr val="94D2BD"/>
                      </a:solidFill>
                    </a:lnT>
                    <a:lnB w="12700" algn="ctr">
                      <a:solidFill>
                        <a:srgbClr val="94D2BD"/>
                      </a:solidFill>
                    </a:lnB>
                    <a:solidFill>
                      <a:srgbClr val="0D1B2A"/>
                    </a:solidFill>
                  </a:tcPr>
                </a:tc>
              </a:tr>
              <a:tr h="384048">
                <a:tc>
                  <a:txBody>
                    <a:bodyPr/>
                    <a:p>
                      <a:pPr marL="0" indent="0" algn="ctr">
                        <a:buNone/>
                        <a:defRPr/>
                      </a:pPr>
                      <a:r>
                        <a:rPr lang="en-US" sz="1100">
                          <a:solidFill>
                            <a:srgbClr val="000000"/>
                          </a:solidFill>
                          <a:latin typeface="Calibri"/>
                          <a:ea typeface="Calibri"/>
                          <a:cs typeface="Calibri"/>
                        </a:rPr>
                        <a:t>Accuracy</a:t>
                      </a:r>
                      <a:endParaRPr lang="en-US" sz="1100">
                        <a:latin typeface="Calibri"/>
                        <a:ea typeface="Calibri"/>
                        <a:cs typeface="Calibri"/>
                      </a:endParaRPr>
                    </a:p>
                  </a:txBody>
                  <a:tcPr marL="91440" marR="91440" marT="45720" marB="45720">
                    <a:lnL w="12700" algn="ctr">
                      <a:solidFill>
                        <a:srgbClr val="94D2BD"/>
                      </a:solidFill>
                    </a:lnL>
                    <a:lnR w="12700" algn="ctr">
                      <a:solidFill>
                        <a:srgbClr val="94D2BD"/>
                      </a:solidFill>
                    </a:lnR>
                    <a:lnT w="12700" algn="ctr">
                      <a:solidFill>
                        <a:srgbClr val="94D2BD"/>
                      </a:solidFill>
                    </a:lnT>
                    <a:lnB w="12700" algn="ctr">
                      <a:solidFill>
                        <a:srgbClr val="94D2BD"/>
                      </a:solidFill>
                    </a:lnB>
                  </a:tcPr>
                </a:tc>
                <a:tc>
                  <a:txBody>
                    <a:bodyPr/>
                    <a:p>
                      <a:pPr marL="0" indent="0" algn="ctr">
                        <a:buNone/>
                        <a:defRPr/>
                      </a:pPr>
                      <a:r>
                        <a:rPr lang="en-US" sz="1100">
                          <a:solidFill>
                            <a:srgbClr val="000000"/>
                          </a:solidFill>
                          <a:latin typeface="Calibri"/>
                          <a:ea typeface="Calibri"/>
                          <a:cs typeface="Calibri"/>
                        </a:rPr>
                        <a:t>[XX%]</a:t>
                      </a:r>
                      <a:endParaRPr lang="en-US" sz="1100">
                        <a:latin typeface="Calibri"/>
                        <a:ea typeface="Calibri"/>
                        <a:cs typeface="Calibri"/>
                      </a:endParaRPr>
                    </a:p>
                  </a:txBody>
                  <a:tcPr marL="91440" marR="91440" marT="45720" marB="45720">
                    <a:lnL w="12700" algn="ctr">
                      <a:solidFill>
                        <a:srgbClr val="94D2BD"/>
                      </a:solidFill>
                    </a:lnL>
                    <a:lnR w="12700" algn="ctr">
                      <a:solidFill>
                        <a:srgbClr val="94D2BD"/>
                      </a:solidFill>
                    </a:lnR>
                    <a:lnT w="12700" algn="ctr">
                      <a:solidFill>
                        <a:srgbClr val="94D2BD"/>
                      </a:solidFill>
                    </a:lnT>
                    <a:lnB w="12700" algn="ctr">
                      <a:solidFill>
                        <a:srgbClr val="94D2BD"/>
                      </a:solidFill>
                    </a:lnB>
                  </a:tcPr>
                </a:tc>
                <a:tc>
                  <a:txBody>
                    <a:bodyPr/>
                    <a:p>
                      <a:pPr marL="0" indent="0" algn="ctr">
                        <a:buNone/>
                        <a:defRPr/>
                      </a:pPr>
                      <a:r>
                        <a:rPr lang="en-US" sz="1100">
                          <a:solidFill>
                            <a:srgbClr val="000000"/>
                          </a:solidFill>
                          <a:latin typeface="Calibri"/>
                          <a:ea typeface="Calibri"/>
                          <a:cs typeface="Calibri"/>
                        </a:rPr>
                        <a:t>[XX%]</a:t>
                      </a:r>
                      <a:endParaRPr lang="en-US" sz="1100">
                        <a:latin typeface="Calibri"/>
                        <a:ea typeface="Calibri"/>
                        <a:cs typeface="Calibri"/>
                      </a:endParaRPr>
                    </a:p>
                  </a:txBody>
                  <a:tcPr marL="91440" marR="91440" marT="45720" marB="45720">
                    <a:lnL w="12700" algn="ctr">
                      <a:solidFill>
                        <a:srgbClr val="94D2BD"/>
                      </a:solidFill>
                    </a:lnL>
                    <a:lnR w="12700" algn="ctr">
                      <a:solidFill>
                        <a:srgbClr val="94D2BD"/>
                      </a:solidFill>
                    </a:lnR>
                    <a:lnT w="12700" algn="ctr">
                      <a:solidFill>
                        <a:srgbClr val="94D2BD"/>
                      </a:solidFill>
                    </a:lnT>
                    <a:lnB w="12700" algn="ctr">
                      <a:solidFill>
                        <a:srgbClr val="94D2BD"/>
                      </a:solidFill>
                    </a:lnB>
                  </a:tcPr>
                </a:tc>
              </a:tr>
              <a:tr h="384048">
                <a:tc>
                  <a:txBody>
                    <a:bodyPr/>
                    <a:p>
                      <a:pPr marL="0" indent="0" algn="ctr">
                        <a:buNone/>
                        <a:defRPr/>
                      </a:pPr>
                      <a:r>
                        <a:rPr lang="en-US" sz="1100">
                          <a:solidFill>
                            <a:srgbClr val="000000"/>
                          </a:solidFill>
                          <a:latin typeface="Calibri"/>
                          <a:ea typeface="Calibri"/>
                          <a:cs typeface="Calibri"/>
                        </a:rPr>
                        <a:t>Weighted F1</a:t>
                      </a:r>
                      <a:endParaRPr lang="en-US" sz="1100">
                        <a:latin typeface="Calibri"/>
                        <a:ea typeface="Calibri"/>
                        <a:cs typeface="Calibri"/>
                      </a:endParaRPr>
                    </a:p>
                  </a:txBody>
                  <a:tcPr marL="91440" marR="91440" marT="45720" marB="45720">
                    <a:lnL w="12700" algn="ctr">
                      <a:solidFill>
                        <a:srgbClr val="94D2BD"/>
                      </a:solidFill>
                    </a:lnL>
                    <a:lnR w="12700" algn="ctr">
                      <a:solidFill>
                        <a:srgbClr val="94D2BD"/>
                      </a:solidFill>
                    </a:lnR>
                    <a:lnT w="12700" algn="ctr">
                      <a:solidFill>
                        <a:srgbClr val="94D2BD"/>
                      </a:solidFill>
                    </a:lnT>
                    <a:lnB w="12700" algn="ctr">
                      <a:solidFill>
                        <a:srgbClr val="94D2BD"/>
                      </a:solidFill>
                    </a:lnB>
                  </a:tcPr>
                </a:tc>
                <a:tc>
                  <a:txBody>
                    <a:bodyPr/>
                    <a:p>
                      <a:pPr marL="0" indent="0" algn="ctr">
                        <a:buNone/>
                        <a:defRPr/>
                      </a:pPr>
                      <a:r>
                        <a:rPr lang="en-US" sz="1100">
                          <a:solidFill>
                            <a:srgbClr val="000000"/>
                          </a:solidFill>
                          <a:latin typeface="Calibri"/>
                          <a:ea typeface="Calibri"/>
                          <a:cs typeface="Calibri"/>
                        </a:rPr>
                        <a:t>[XX]</a:t>
                      </a:r>
                      <a:endParaRPr lang="en-US" sz="1100">
                        <a:latin typeface="Calibri"/>
                        <a:ea typeface="Calibri"/>
                        <a:cs typeface="Calibri"/>
                      </a:endParaRPr>
                    </a:p>
                  </a:txBody>
                  <a:tcPr marL="91440" marR="91440" marT="45720" marB="45720">
                    <a:lnL w="12700" algn="ctr">
                      <a:solidFill>
                        <a:srgbClr val="94D2BD"/>
                      </a:solidFill>
                    </a:lnL>
                    <a:lnR w="12700" algn="ctr">
                      <a:solidFill>
                        <a:srgbClr val="94D2BD"/>
                      </a:solidFill>
                    </a:lnR>
                    <a:lnT w="12700" algn="ctr">
                      <a:solidFill>
                        <a:srgbClr val="94D2BD"/>
                      </a:solidFill>
                    </a:lnT>
                    <a:lnB w="12700" algn="ctr">
                      <a:solidFill>
                        <a:srgbClr val="94D2BD"/>
                      </a:solidFill>
                    </a:lnB>
                  </a:tcPr>
                </a:tc>
                <a:tc>
                  <a:txBody>
                    <a:bodyPr/>
                    <a:p>
                      <a:pPr marL="0" indent="0" algn="ctr">
                        <a:buNone/>
                        <a:defRPr/>
                      </a:pPr>
                      <a:r>
                        <a:rPr lang="en-US" sz="1100">
                          <a:solidFill>
                            <a:srgbClr val="000000"/>
                          </a:solidFill>
                          <a:latin typeface="Calibri"/>
                          <a:ea typeface="Calibri"/>
                          <a:cs typeface="Calibri"/>
                        </a:rPr>
                        <a:t>[XX]</a:t>
                      </a:r>
                      <a:endParaRPr lang="en-US" sz="1100">
                        <a:latin typeface="Calibri"/>
                        <a:ea typeface="Calibri"/>
                        <a:cs typeface="Calibri"/>
                      </a:endParaRPr>
                    </a:p>
                  </a:txBody>
                  <a:tcPr marL="91440" marR="91440" marT="45720" marB="45720">
                    <a:lnL w="12700" algn="ctr">
                      <a:solidFill>
                        <a:srgbClr val="94D2BD"/>
                      </a:solidFill>
                    </a:lnL>
                    <a:lnR w="12700" algn="ctr">
                      <a:solidFill>
                        <a:srgbClr val="94D2BD"/>
                      </a:solidFill>
                    </a:lnR>
                    <a:lnT w="12700" algn="ctr">
                      <a:solidFill>
                        <a:srgbClr val="94D2BD"/>
                      </a:solidFill>
                    </a:lnT>
                    <a:lnB w="12700" algn="ctr">
                      <a:solidFill>
                        <a:srgbClr val="94D2BD"/>
                      </a:solidFill>
                    </a:lnB>
                  </a:tcPr>
                </a:tc>
              </a:tr>
              <a:tr h="384048">
                <a:tc>
                  <a:txBody>
                    <a:bodyPr/>
                    <a:p>
                      <a:pPr marL="0" indent="0" algn="ctr">
                        <a:buNone/>
                        <a:defRPr/>
                      </a:pPr>
                      <a:r>
                        <a:rPr lang="en-US" sz="1100">
                          <a:solidFill>
                            <a:srgbClr val="000000"/>
                          </a:solidFill>
                          <a:latin typeface="Calibri"/>
                          <a:ea typeface="Calibri"/>
                          <a:cs typeface="Calibri"/>
                        </a:rPr>
                        <a:t>ROC-AUC (OvR)</a:t>
                      </a:r>
                      <a:endParaRPr lang="en-US" sz="1100">
                        <a:latin typeface="Calibri"/>
                        <a:ea typeface="Calibri"/>
                        <a:cs typeface="Calibri"/>
                      </a:endParaRPr>
                    </a:p>
                  </a:txBody>
                  <a:tcPr marL="91440" marR="91440" marT="45720" marB="45720">
                    <a:lnL w="12700" algn="ctr">
                      <a:solidFill>
                        <a:srgbClr val="94D2BD"/>
                      </a:solidFill>
                    </a:lnL>
                    <a:lnR w="12700" algn="ctr">
                      <a:solidFill>
                        <a:srgbClr val="94D2BD"/>
                      </a:solidFill>
                    </a:lnR>
                    <a:lnT w="12700" algn="ctr">
                      <a:solidFill>
                        <a:srgbClr val="94D2BD"/>
                      </a:solidFill>
                    </a:lnT>
                    <a:lnB w="12700" algn="ctr">
                      <a:solidFill>
                        <a:srgbClr val="94D2BD"/>
                      </a:solidFill>
                    </a:lnB>
                  </a:tcPr>
                </a:tc>
                <a:tc>
                  <a:txBody>
                    <a:bodyPr/>
                    <a:p>
                      <a:pPr marL="0" indent="0" algn="ctr">
                        <a:buNone/>
                        <a:defRPr/>
                      </a:pPr>
                      <a:r>
                        <a:rPr lang="en-US" sz="1100">
                          <a:solidFill>
                            <a:srgbClr val="000000"/>
                          </a:solidFill>
                          <a:latin typeface="Calibri"/>
                          <a:ea typeface="Calibri"/>
                          <a:cs typeface="Calibri"/>
                        </a:rPr>
                        <a:t>[XX]</a:t>
                      </a:r>
                      <a:endParaRPr lang="en-US" sz="1100">
                        <a:latin typeface="Calibri"/>
                        <a:ea typeface="Calibri"/>
                        <a:cs typeface="Calibri"/>
                      </a:endParaRPr>
                    </a:p>
                  </a:txBody>
                  <a:tcPr marL="91440" marR="91440" marT="45720" marB="45720">
                    <a:lnL w="12700" algn="ctr">
                      <a:solidFill>
                        <a:srgbClr val="94D2BD"/>
                      </a:solidFill>
                    </a:lnL>
                    <a:lnR w="12700" algn="ctr">
                      <a:solidFill>
                        <a:srgbClr val="94D2BD"/>
                      </a:solidFill>
                    </a:lnR>
                    <a:lnT w="12700" algn="ctr">
                      <a:solidFill>
                        <a:srgbClr val="94D2BD"/>
                      </a:solidFill>
                    </a:lnT>
                    <a:lnB w="12700" algn="ctr">
                      <a:solidFill>
                        <a:srgbClr val="94D2BD"/>
                      </a:solidFill>
                    </a:lnB>
                  </a:tcPr>
                </a:tc>
                <a:tc>
                  <a:txBody>
                    <a:bodyPr/>
                    <a:p>
                      <a:pPr marL="0" indent="0" algn="ctr">
                        <a:buNone/>
                        <a:defRPr/>
                      </a:pPr>
                      <a:r>
                        <a:rPr lang="en-US" sz="1100">
                          <a:solidFill>
                            <a:srgbClr val="000000"/>
                          </a:solidFill>
                          <a:latin typeface="Calibri"/>
                          <a:ea typeface="Calibri"/>
                          <a:cs typeface="Calibri"/>
                        </a:rPr>
                        <a:t>[XX]</a:t>
                      </a:r>
                      <a:endParaRPr lang="en-US" sz="1100">
                        <a:latin typeface="Calibri"/>
                        <a:ea typeface="Calibri"/>
                        <a:cs typeface="Calibri"/>
                      </a:endParaRPr>
                    </a:p>
                  </a:txBody>
                  <a:tcPr marL="91440" marR="91440" marT="45720" marB="45720">
                    <a:lnL w="12700" algn="ctr">
                      <a:solidFill>
                        <a:srgbClr val="94D2BD"/>
                      </a:solidFill>
                    </a:lnL>
                    <a:lnR w="12700" algn="ctr">
                      <a:solidFill>
                        <a:srgbClr val="94D2BD"/>
                      </a:solidFill>
                    </a:lnR>
                    <a:lnT w="12700" algn="ctr">
                      <a:solidFill>
                        <a:srgbClr val="94D2BD"/>
                      </a:solidFill>
                    </a:lnT>
                    <a:lnB w="12700" algn="ctr">
                      <a:solidFill>
                        <a:srgbClr val="94D2BD"/>
                      </a:solidFill>
                    </a:lnB>
                  </a:tcPr>
                </a:tc>
              </a:tr>
              <a:tr h="384048">
                <a:tc>
                  <a:txBody>
                    <a:bodyPr/>
                    <a:p>
                      <a:pPr marL="0" indent="0" algn="ctr">
                        <a:buNone/>
                        <a:defRPr/>
                      </a:pPr>
                      <a:r>
                        <a:rPr lang="en-US" sz="1100">
                          <a:solidFill>
                            <a:srgbClr val="000000"/>
                          </a:solidFill>
                          <a:latin typeface="Calibri"/>
                          <a:ea typeface="Calibri"/>
                          <a:cs typeface="Calibri"/>
                        </a:rPr>
                        <a:t>CV Mean ± Std</a:t>
                      </a:r>
                      <a:endParaRPr lang="en-US" sz="1100">
                        <a:latin typeface="Calibri"/>
                        <a:ea typeface="Calibri"/>
                        <a:cs typeface="Calibri"/>
                      </a:endParaRPr>
                    </a:p>
                  </a:txBody>
                  <a:tcPr marL="91440" marR="91440" marT="45720" marB="45720">
                    <a:lnL w="12700" algn="ctr">
                      <a:solidFill>
                        <a:srgbClr val="94D2BD"/>
                      </a:solidFill>
                    </a:lnL>
                    <a:lnR w="12700" algn="ctr">
                      <a:solidFill>
                        <a:srgbClr val="94D2BD"/>
                      </a:solidFill>
                    </a:lnR>
                    <a:lnT w="12700" algn="ctr">
                      <a:solidFill>
                        <a:srgbClr val="94D2BD"/>
                      </a:solidFill>
                    </a:lnT>
                    <a:lnB w="12700" algn="ctr">
                      <a:solidFill>
                        <a:srgbClr val="94D2BD"/>
                      </a:solidFill>
                    </a:lnB>
                  </a:tcPr>
                </a:tc>
                <a:tc>
                  <a:txBody>
                    <a:bodyPr/>
                    <a:p>
                      <a:pPr marL="0" indent="0" algn="ctr">
                        <a:buNone/>
                        <a:defRPr/>
                      </a:pPr>
                      <a:r>
                        <a:rPr lang="en-US" sz="1100">
                          <a:solidFill>
                            <a:srgbClr val="000000"/>
                          </a:solidFill>
                          <a:latin typeface="Calibri"/>
                          <a:ea typeface="Calibri"/>
                          <a:cs typeface="Calibri"/>
                        </a:rPr>
                        <a:t>[XX ± XX]</a:t>
                      </a:r>
                      <a:endParaRPr lang="en-US" sz="1100">
                        <a:latin typeface="Calibri"/>
                        <a:ea typeface="Calibri"/>
                        <a:cs typeface="Calibri"/>
                      </a:endParaRPr>
                    </a:p>
                  </a:txBody>
                  <a:tcPr marL="91440" marR="91440" marT="45720" marB="45720">
                    <a:lnL w="12700" algn="ctr">
                      <a:solidFill>
                        <a:srgbClr val="94D2BD"/>
                      </a:solidFill>
                    </a:lnL>
                    <a:lnR w="12700" algn="ctr">
                      <a:solidFill>
                        <a:srgbClr val="94D2BD"/>
                      </a:solidFill>
                    </a:lnR>
                    <a:lnT w="12700" algn="ctr">
                      <a:solidFill>
                        <a:srgbClr val="94D2BD"/>
                      </a:solidFill>
                    </a:lnT>
                    <a:lnB w="12700" algn="ctr">
                      <a:solidFill>
                        <a:srgbClr val="94D2BD"/>
                      </a:solidFill>
                    </a:lnB>
                  </a:tcPr>
                </a:tc>
                <a:tc>
                  <a:txBody>
                    <a:bodyPr/>
                    <a:p>
                      <a:pPr marL="0" indent="0" algn="ctr">
                        <a:buNone/>
                        <a:defRPr/>
                      </a:pPr>
                      <a:r>
                        <a:rPr lang="en-US" sz="1100">
                          <a:solidFill>
                            <a:srgbClr val="000000"/>
                          </a:solidFill>
                          <a:latin typeface="Calibri"/>
                          <a:ea typeface="Calibri"/>
                          <a:cs typeface="Calibri"/>
                        </a:rPr>
                        <a:t>[XX ± XX]</a:t>
                      </a:r>
                      <a:endParaRPr lang="en-US" sz="1100">
                        <a:latin typeface="Calibri"/>
                        <a:ea typeface="Calibri"/>
                        <a:cs typeface="Calibri"/>
                      </a:endParaRPr>
                    </a:p>
                  </a:txBody>
                  <a:tcPr marL="91440" marR="91440" marT="45720" marB="45720">
                    <a:lnL w="12700" algn="ctr">
                      <a:solidFill>
                        <a:srgbClr val="94D2BD"/>
                      </a:solidFill>
                    </a:lnL>
                    <a:lnR w="12700" algn="ctr">
                      <a:solidFill>
                        <a:srgbClr val="94D2BD"/>
                      </a:solidFill>
                    </a:lnR>
                    <a:lnT w="12700" algn="ctr">
                      <a:solidFill>
                        <a:srgbClr val="94D2BD"/>
                      </a:solidFill>
                    </a:lnT>
                    <a:lnB w="12700" algn="ctr">
                      <a:solidFill>
                        <a:srgbClr val="94D2BD"/>
                      </a:solidFill>
                    </a:lnB>
                  </a:tcPr>
                </a:tc>
              </a:tr>
            </a:tbl>
          </a:graphicData>
        </a:graphic>
      </p:graphicFrame>
      <p:sp>
        <p:nvSpPr>
          <p:cNvPr id="2045217982" name="Text 9"/>
          <p:cNvSpPr/>
          <p:nvPr/>
        </p:nvSpPr>
        <p:spPr bwMode="auto">
          <a:xfrm>
            <a:off x="457200" y="4160519"/>
            <a:ext cx="4572000" cy="320040"/>
          </a:xfrm>
          <a:prstGeom prst="rect">
            <a:avLst/>
          </a:prstGeom>
          <a:noFill/>
          <a:ln/>
        </p:spPr>
        <p:txBody>
          <a:bodyPr wrap="square" rtlCol="0" anchor="ctr"/>
          <a:lstStyle/>
          <a:p>
            <a:pPr marL="0" indent="0">
              <a:buNone/>
              <a:defRPr/>
            </a:pPr>
            <a:r>
              <a:rPr lang="en-US" sz="900" i="1">
                <a:solidFill>
                  <a:srgbClr val="64748B"/>
                </a:solidFill>
              </a:rPr>
              <a:t>📌 Replace bracketed values with your actual notebook output before the pitch.</a:t>
            </a:r>
            <a:endParaRPr lang="en-US" sz="900"/>
          </a:p>
        </p:txBody>
      </p:sp>
      <p:sp>
        <p:nvSpPr>
          <p:cNvPr id="2043996173" name="Shape 10"/>
          <p:cNvSpPr/>
          <p:nvPr/>
        </p:nvSpPr>
        <p:spPr bwMode="auto">
          <a:xfrm>
            <a:off x="5577840" y="1005840"/>
            <a:ext cx="3246120" cy="3474720"/>
          </a:xfrm>
          <a:prstGeom prst="rect">
            <a:avLst/>
          </a:prstGeom>
          <a:solidFill>
            <a:srgbClr val="E9F5F6"/>
          </a:solidFill>
          <a:ln w="12700">
            <a:solidFill>
              <a:srgbClr val="94D2BD"/>
            </a:solidFill>
            <a:prstDash val="solid"/>
          </a:ln>
          <a:effectLst>
            <a:outerShdw blurRad="101600" dist="38100" dir="8100000" sx="100000" sy="100000" kx="0" ky="0" algn="bl" rotWithShape="0">
              <a:srgbClr val="000000">
                <a:alpha val="13000"/>
              </a:srgbClr>
            </a:outerShdw>
          </a:effectLst>
        </p:spPr>
      </p:sp>
      <p:sp>
        <p:nvSpPr>
          <p:cNvPr id="1347016598" name="Text 11"/>
          <p:cNvSpPr/>
          <p:nvPr/>
        </p:nvSpPr>
        <p:spPr bwMode="auto">
          <a:xfrm>
            <a:off x="5715000" y="1078992"/>
            <a:ext cx="2926080" cy="320040"/>
          </a:xfrm>
          <a:prstGeom prst="rect">
            <a:avLst/>
          </a:prstGeom>
          <a:noFill/>
          <a:ln/>
        </p:spPr>
        <p:txBody>
          <a:bodyPr wrap="square" rtlCol="0" anchor="ctr"/>
          <a:lstStyle/>
          <a:p>
            <a:pPr marL="0" indent="0">
              <a:buNone/>
              <a:defRPr/>
            </a:pPr>
            <a:r>
              <a:rPr lang="en-US" sz="1300" b="1">
                <a:solidFill>
                  <a:srgbClr val="0D1B2A"/>
                </a:solidFill>
              </a:rPr>
              <a:t>Key Takeaways</a:t>
            </a:r>
            <a:endParaRPr lang="en-US" sz="1300"/>
          </a:p>
        </p:txBody>
      </p:sp>
      <p:sp>
        <p:nvSpPr>
          <p:cNvPr id="769261337" name="Text 12"/>
          <p:cNvSpPr/>
          <p:nvPr/>
        </p:nvSpPr>
        <p:spPr bwMode="auto">
          <a:xfrm>
            <a:off x="5715000" y="1444752"/>
            <a:ext cx="2971800" cy="2834640"/>
          </a:xfrm>
          <a:prstGeom prst="rect">
            <a:avLst/>
          </a:prstGeom>
          <a:noFill/>
          <a:ln/>
        </p:spPr>
        <p:txBody>
          <a:bodyPr wrap="square" rtlCol="0" anchor="t"/>
          <a:lstStyle/>
          <a:p>
            <a:pPr marL="342900" indent="-342900">
              <a:spcAft>
                <a:spcPts val="400"/>
              </a:spcAft>
              <a:buSzPct val="100000"/>
              <a:buChar char="•"/>
              <a:defRPr/>
            </a:pPr>
            <a:r>
              <a:rPr lang="en-US" sz="1050">
                <a:solidFill>
                  <a:srgbClr val="1E293B"/>
                </a:solidFill>
              </a:rPr>
              <a:t>Both models achieve strong accuracy on a 3-class problem</a:t>
            </a:r>
            <a:endParaRPr lang="en-US" sz="1050"/>
          </a:p>
          <a:p>
            <a:pPr marL="342900" indent="-342900">
              <a:spcAft>
                <a:spcPts val="400"/>
              </a:spcAft>
              <a:buSzPct val="100000"/>
              <a:buChar char="•"/>
              <a:defRPr/>
            </a:pPr>
            <a:r>
              <a:rPr lang="en-US" sz="1050">
                <a:solidFill>
                  <a:srgbClr val="1E293B"/>
                </a:solidFill>
              </a:rPr>
              <a:t>XGBoost / RF [state which] outperforms on weighted F1</a:t>
            </a:r>
            <a:endParaRPr lang="en-US" sz="1050"/>
          </a:p>
          <a:p>
            <a:pPr marL="342900" indent="-342900">
              <a:spcAft>
                <a:spcPts val="400"/>
              </a:spcAft>
              <a:buSzPct val="100000"/>
              <a:buChar char="•"/>
              <a:defRPr/>
            </a:pPr>
            <a:r>
              <a:rPr lang="en-US" sz="1050">
                <a:solidFill>
                  <a:srgbClr val="1E293B"/>
                </a:solidFill>
              </a:rPr>
              <a:t>Top features: [e.g., Stress Level, Sleep Duration, BMI]</a:t>
            </a:r>
            <a:endParaRPr lang="en-US" sz="1050"/>
          </a:p>
          <a:p>
            <a:pPr marL="342900" indent="-342900">
              <a:spcAft>
                <a:spcPts val="400"/>
              </a:spcAft>
              <a:buSzPct val="100000"/>
              <a:buChar char="•"/>
              <a:defRPr/>
            </a:pPr>
            <a:r>
              <a:rPr lang="en-US" sz="1050">
                <a:solidFill>
                  <a:srgbClr val="1E293B"/>
                </a:solidFill>
              </a:rPr>
              <a:t>Fairness audit shows [consistent / some variance] across gender groups</a:t>
            </a:r>
            <a:endParaRPr lang="en-US" sz="1050"/>
          </a:p>
          <a:p>
            <a:pPr marL="342900" indent="-342900">
              <a:buSzPct val="100000"/>
              <a:buChar char="•"/>
              <a:defRPr/>
            </a:pPr>
            <a:r>
              <a:rPr lang="en-US" sz="1050">
                <a:solidFill>
                  <a:srgbClr val="1E293B"/>
                </a:solidFill>
              </a:rPr>
              <a:t>No BMI subgroup flagged for low sample size (&lt; 5 samples)</a:t>
            </a:r>
            <a:endParaRPr lang="en-US" sz="1050"/>
          </a:p>
        </p:txBody>
      </p:sp>
      <p:sp>
        <p:nvSpPr>
          <p:cNvPr id="2077109408" name="Text 13"/>
          <p:cNvSpPr/>
          <p:nvPr/>
        </p:nvSpPr>
        <p:spPr bwMode="auto">
          <a:xfrm>
            <a:off x="5715000" y="1444752"/>
            <a:ext cx="2971800" cy="2834640"/>
          </a:xfrm>
          <a:prstGeom prst="rect">
            <a:avLst/>
          </a:prstGeom>
          <a:noFill/>
          <a:ln/>
        </p:spPr>
        <p:txBody>
          <a:bodyPr wrap="square" rtlCol="0" anchor="t"/>
          <a:lstStyle/>
          <a:p>
            <a:pPr marL="342900" indent="-342900">
              <a:spcAft>
                <a:spcPts val="500"/>
              </a:spcAft>
              <a:buSzPct val="100000"/>
              <a:buChar char="•"/>
              <a:defRPr/>
            </a:pPr>
            <a:r>
              <a:rPr lang="en-US" sz="1050">
                <a:solidFill>
                  <a:srgbClr val="1E293B"/>
                </a:solidFill>
              </a:rPr>
              <a:t>Both models achieve strong accuracy on a 3-class problem</a:t>
            </a:r>
            <a:endParaRPr lang="en-US" sz="1050"/>
          </a:p>
          <a:p>
            <a:pPr>
              <a:spcAft>
                <a:spcPts val="500"/>
              </a:spcAft>
              <a:defRPr/>
            </a:pPr>
            <a:endParaRPr lang="en-US" sz="1050"/>
          </a:p>
          <a:p>
            <a:pPr>
              <a:defRPr/>
            </a:pPr>
            <a:endParaRPr lang="en-US" sz="1050">
              <a:solidFill>
                <a:srgbClr val="1E293B"/>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7">
    <p:bg>
      <p:bgPr shadeToTitle="0">
        <a:solidFill>
          <a:srgbClr val="FFFFFF"/>
        </a:solidFill>
      </p:bgPr>
    </p:bg>
    <p:spTree>
      <p:nvGrpSpPr>
        <p:cNvPr id="1" name=""/>
        <p:cNvGrpSpPr/>
        <p:nvPr/>
      </p:nvGrpSpPr>
      <p:grpSpPr bwMode="auto">
        <a:xfrm>
          <a:off x="0" y="0"/>
          <a:ext cx="0" cy="0"/>
          <a:chOff x="0" y="0"/>
          <a:chExt cx="0" cy="0"/>
        </a:xfrm>
      </p:grpSpPr>
      <p:sp>
        <p:nvSpPr>
          <p:cNvPr id="158786083" name="Shape 0"/>
          <p:cNvSpPr/>
          <p:nvPr/>
        </p:nvSpPr>
        <p:spPr bwMode="auto">
          <a:xfrm>
            <a:off x="0" y="0"/>
            <a:ext cx="9144000" cy="658368"/>
          </a:xfrm>
          <a:prstGeom prst="rect">
            <a:avLst/>
          </a:prstGeom>
          <a:solidFill>
            <a:srgbClr val="0D1B2A"/>
          </a:solidFill>
          <a:ln w="12700">
            <a:solidFill>
              <a:srgbClr val="0D1B2A"/>
            </a:solidFill>
            <a:prstDash val="solid"/>
          </a:ln>
        </p:spPr>
      </p:sp>
      <p:sp>
        <p:nvSpPr>
          <p:cNvPr id="1141051690" name="Shape 1"/>
          <p:cNvSpPr/>
          <p:nvPr/>
        </p:nvSpPr>
        <p:spPr bwMode="auto">
          <a:xfrm>
            <a:off x="411480" y="118872"/>
            <a:ext cx="347472" cy="347472"/>
          </a:xfrm>
          <a:prstGeom prst="rect">
            <a:avLst/>
          </a:prstGeom>
          <a:solidFill>
            <a:srgbClr val="0A9396"/>
          </a:solidFill>
          <a:ln w="12700">
            <a:solidFill>
              <a:srgbClr val="0A9396"/>
            </a:solidFill>
            <a:prstDash val="solid"/>
          </a:ln>
        </p:spPr>
      </p:sp>
      <p:sp>
        <p:nvSpPr>
          <p:cNvPr id="494829963" name="Text 2"/>
          <p:cNvSpPr/>
          <p:nvPr/>
        </p:nvSpPr>
        <p:spPr bwMode="auto">
          <a:xfrm>
            <a:off x="411480" y="118872"/>
            <a:ext cx="347472" cy="347472"/>
          </a:xfrm>
          <a:prstGeom prst="rect">
            <a:avLst/>
          </a:prstGeom>
          <a:noFill/>
          <a:ln/>
        </p:spPr>
        <p:txBody>
          <a:bodyPr wrap="square" lIns="0" tIns="0" rIns="0" bIns="0" rtlCol="0" anchor="ctr"/>
          <a:lstStyle/>
          <a:p>
            <a:pPr marL="0" indent="0" algn="ctr">
              <a:buNone/>
              <a:defRPr/>
            </a:pPr>
            <a:r>
              <a:rPr lang="en-US" sz="1400" b="1">
                <a:solidFill>
                  <a:srgbClr val="FFFFFF"/>
                </a:solidFill>
              </a:rPr>
              <a:t>6</a:t>
            </a:r>
            <a:endParaRPr lang="en-US" sz="1400"/>
          </a:p>
        </p:txBody>
      </p:sp>
      <p:sp>
        <p:nvSpPr>
          <p:cNvPr id="467851075" name="Text 3"/>
          <p:cNvSpPr/>
          <p:nvPr/>
        </p:nvSpPr>
        <p:spPr bwMode="auto">
          <a:xfrm>
            <a:off x="868680" y="118872"/>
            <a:ext cx="8046720" cy="347472"/>
          </a:xfrm>
          <a:prstGeom prst="rect">
            <a:avLst/>
          </a:prstGeom>
          <a:noFill/>
          <a:ln/>
        </p:spPr>
        <p:txBody>
          <a:bodyPr wrap="square" lIns="0" tIns="0" rIns="0" bIns="0" rtlCol="0" anchor="ctr"/>
          <a:lstStyle/>
          <a:p>
            <a:pPr marL="0" indent="0">
              <a:buNone/>
              <a:defRPr/>
            </a:pPr>
            <a:r>
              <a:rPr lang="en-US" sz="1800" b="1">
                <a:solidFill>
                  <a:srgbClr val="FFFFFF"/>
                </a:solidFill>
              </a:rPr>
              <a:t>Discussion</a:t>
            </a:r>
            <a:endParaRPr lang="en-US" sz="1800"/>
          </a:p>
        </p:txBody>
      </p:sp>
      <p:sp>
        <p:nvSpPr>
          <p:cNvPr id="2092388956" name="Shape 4"/>
          <p:cNvSpPr/>
          <p:nvPr/>
        </p:nvSpPr>
        <p:spPr bwMode="auto">
          <a:xfrm>
            <a:off x="0" y="4937760"/>
            <a:ext cx="9144000" cy="201168"/>
          </a:xfrm>
          <a:prstGeom prst="rect">
            <a:avLst/>
          </a:prstGeom>
          <a:solidFill>
            <a:srgbClr val="0A9396"/>
          </a:solidFill>
          <a:ln w="12700">
            <a:solidFill>
              <a:srgbClr val="0A9396"/>
            </a:solidFill>
            <a:prstDash val="solid"/>
          </a:ln>
        </p:spPr>
      </p:sp>
      <p:sp>
        <p:nvSpPr>
          <p:cNvPr id="934437762" name="Text 5"/>
          <p:cNvSpPr/>
          <p:nvPr/>
        </p:nvSpPr>
        <p:spPr bwMode="auto">
          <a:xfrm>
            <a:off x="274320" y="4937760"/>
            <a:ext cx="8595360" cy="201168"/>
          </a:xfrm>
          <a:prstGeom prst="rect">
            <a:avLst/>
          </a:prstGeom>
          <a:noFill/>
          <a:ln/>
        </p:spPr>
        <p:txBody>
          <a:bodyPr wrap="square" lIns="0" tIns="0" rIns="0" bIns="0" rtlCol="0" anchor="ctr"/>
          <a:lstStyle/>
          <a:p>
            <a:pPr marL="0" indent="0">
              <a:buNone/>
              <a:defRPr/>
            </a:pPr>
            <a:r>
              <a:rPr lang="en-US" sz="800">
                <a:solidFill>
                  <a:srgbClr val="FFFFFF"/>
                </a:solidFill>
              </a:rPr>
              <a:t>Sleep Disorder Classification  |  Final Project</a:t>
            </a:r>
            <a:endParaRPr lang="en-US" sz="800"/>
          </a:p>
        </p:txBody>
      </p:sp>
      <p:sp>
        <p:nvSpPr>
          <p:cNvPr id="572563242" name="Text 6"/>
          <p:cNvSpPr/>
          <p:nvPr/>
        </p:nvSpPr>
        <p:spPr bwMode="auto">
          <a:xfrm>
            <a:off x="457200" y="713232"/>
            <a:ext cx="8229600" cy="274320"/>
          </a:xfrm>
          <a:prstGeom prst="rect">
            <a:avLst/>
          </a:prstGeom>
          <a:noFill/>
          <a:ln/>
        </p:spPr>
        <p:txBody>
          <a:bodyPr wrap="square" rtlCol="0" anchor="ctr"/>
          <a:lstStyle/>
          <a:p>
            <a:pPr marL="0" indent="0">
              <a:buNone/>
              <a:defRPr/>
            </a:pPr>
            <a:r>
              <a:rPr lang="en-US" sz="1000" i="1">
                <a:solidFill>
                  <a:srgbClr val="64748B"/>
                </a:solidFill>
              </a:rPr>
              <a:t>Challenges encountered and how they were addressed</a:t>
            </a:r>
            <a:endParaRPr lang="en-US" sz="1000"/>
          </a:p>
        </p:txBody>
      </p:sp>
      <p:sp>
        <p:nvSpPr>
          <p:cNvPr id="1748191343" name="Shape 7"/>
          <p:cNvSpPr/>
          <p:nvPr/>
        </p:nvSpPr>
        <p:spPr bwMode="auto">
          <a:xfrm>
            <a:off x="320040" y="1005840"/>
            <a:ext cx="4114800" cy="1737360"/>
          </a:xfrm>
          <a:prstGeom prst="rect">
            <a:avLst/>
          </a:prstGeom>
          <a:solidFill>
            <a:srgbClr val="E9F5F6"/>
          </a:solidFill>
          <a:ln w="12700">
            <a:solidFill>
              <a:srgbClr val="94D2BD"/>
            </a:solidFill>
            <a:prstDash val="solid"/>
          </a:ln>
          <a:effectLst>
            <a:outerShdw blurRad="101600" dist="38100" dir="8100000" sx="100000" sy="100000" kx="0" ky="0" algn="bl" rotWithShape="0">
              <a:srgbClr val="000000">
                <a:alpha val="13000"/>
              </a:srgbClr>
            </a:outerShdw>
          </a:effectLst>
        </p:spPr>
      </p:sp>
      <p:sp>
        <p:nvSpPr>
          <p:cNvPr id="2143421808" name="Text 8"/>
          <p:cNvSpPr/>
          <p:nvPr/>
        </p:nvSpPr>
        <p:spPr bwMode="auto">
          <a:xfrm>
            <a:off x="320040" y="1097280"/>
            <a:ext cx="640080" cy="502920"/>
          </a:xfrm>
          <a:prstGeom prst="rect">
            <a:avLst/>
          </a:prstGeom>
          <a:noFill/>
          <a:ln/>
        </p:spPr>
        <p:txBody>
          <a:bodyPr wrap="square" rtlCol="0" anchor="ctr"/>
          <a:lstStyle/>
          <a:p>
            <a:pPr marL="0" indent="0" algn="ctr">
              <a:buNone/>
              <a:defRPr/>
            </a:pPr>
            <a:r>
              <a:rPr lang="en-US" sz="2200">
                <a:solidFill>
                  <a:srgbClr val="000000"/>
                </a:solidFill>
              </a:rPr>
              <a:t>⚙️</a:t>
            </a:r>
            <a:endParaRPr lang="en-US" sz="2200"/>
          </a:p>
        </p:txBody>
      </p:sp>
      <p:sp>
        <p:nvSpPr>
          <p:cNvPr id="848549732" name="Text 9"/>
          <p:cNvSpPr/>
          <p:nvPr/>
        </p:nvSpPr>
        <p:spPr bwMode="auto">
          <a:xfrm>
            <a:off x="914400" y="1143000"/>
            <a:ext cx="3383280" cy="320040"/>
          </a:xfrm>
          <a:prstGeom prst="rect">
            <a:avLst/>
          </a:prstGeom>
          <a:noFill/>
          <a:ln/>
        </p:spPr>
        <p:txBody>
          <a:bodyPr wrap="square" rtlCol="0" anchor="ctr"/>
          <a:lstStyle/>
          <a:p>
            <a:pPr marL="0" indent="0">
              <a:buNone/>
              <a:defRPr/>
            </a:pPr>
            <a:r>
              <a:rPr lang="en-US" sz="1300" b="1">
                <a:solidFill>
                  <a:srgbClr val="0D1B2A"/>
                </a:solidFill>
              </a:rPr>
              <a:t>Class Imbalance</a:t>
            </a:r>
            <a:endParaRPr lang="en-US" sz="1300"/>
          </a:p>
        </p:txBody>
      </p:sp>
      <p:sp>
        <p:nvSpPr>
          <p:cNvPr id="1012208565" name="Text 10"/>
          <p:cNvSpPr/>
          <p:nvPr/>
        </p:nvSpPr>
        <p:spPr bwMode="auto">
          <a:xfrm>
            <a:off x="457200" y="1517904"/>
            <a:ext cx="3886200" cy="1097280"/>
          </a:xfrm>
          <a:prstGeom prst="rect">
            <a:avLst/>
          </a:prstGeom>
          <a:noFill/>
          <a:ln/>
        </p:spPr>
        <p:txBody>
          <a:bodyPr wrap="square" rtlCol="0" anchor="t"/>
          <a:lstStyle/>
          <a:p>
            <a:pPr marL="0" indent="0">
              <a:buNone/>
              <a:defRPr/>
            </a:pPr>
            <a:r>
              <a:rPr lang="en-US" sz="1100">
                <a:solidFill>
                  <a:srgbClr val="1E293B"/>
                </a:solidFill>
              </a:rPr>
              <a:t>The dataset had unequal representation across sleep disorder classes. Stratified splitting and weighted F1-score evaluation ensured fair model comparison.</a:t>
            </a:r>
            <a:endParaRPr lang="en-US" sz="1100"/>
          </a:p>
        </p:txBody>
      </p:sp>
      <p:sp>
        <p:nvSpPr>
          <p:cNvPr id="265409312" name="Shape 11"/>
          <p:cNvSpPr/>
          <p:nvPr/>
        </p:nvSpPr>
        <p:spPr bwMode="auto">
          <a:xfrm>
            <a:off x="4754880" y="1005840"/>
            <a:ext cx="4114800" cy="1737360"/>
          </a:xfrm>
          <a:prstGeom prst="rect">
            <a:avLst/>
          </a:prstGeom>
          <a:solidFill>
            <a:srgbClr val="E9F5F6"/>
          </a:solidFill>
          <a:ln w="12700">
            <a:solidFill>
              <a:srgbClr val="94D2BD"/>
            </a:solidFill>
            <a:prstDash val="solid"/>
          </a:ln>
          <a:effectLst>
            <a:outerShdw blurRad="101600" dist="38100" dir="8100000" sx="100000" sy="100000" kx="0" ky="0" algn="bl" rotWithShape="0">
              <a:srgbClr val="000000">
                <a:alpha val="13000"/>
              </a:srgbClr>
            </a:outerShdw>
          </a:effectLst>
        </p:spPr>
      </p:sp>
      <p:sp>
        <p:nvSpPr>
          <p:cNvPr id="1382676067" name="Text 12"/>
          <p:cNvSpPr/>
          <p:nvPr/>
        </p:nvSpPr>
        <p:spPr bwMode="auto">
          <a:xfrm>
            <a:off x="4754880" y="1097280"/>
            <a:ext cx="640080" cy="502920"/>
          </a:xfrm>
          <a:prstGeom prst="rect">
            <a:avLst/>
          </a:prstGeom>
          <a:noFill/>
          <a:ln/>
        </p:spPr>
        <p:txBody>
          <a:bodyPr wrap="square" rtlCol="0" anchor="ctr"/>
          <a:lstStyle/>
          <a:p>
            <a:pPr marL="0" indent="0" algn="ctr">
              <a:buNone/>
              <a:defRPr/>
            </a:pPr>
            <a:r>
              <a:rPr lang="en-US" sz="2200">
                <a:solidFill>
                  <a:srgbClr val="000000"/>
                </a:solidFill>
              </a:rPr>
              <a:t>🔧</a:t>
            </a:r>
            <a:endParaRPr lang="en-US" sz="2200"/>
          </a:p>
        </p:txBody>
      </p:sp>
      <p:sp>
        <p:nvSpPr>
          <p:cNvPr id="1167080402" name="Text 13"/>
          <p:cNvSpPr/>
          <p:nvPr/>
        </p:nvSpPr>
        <p:spPr bwMode="auto">
          <a:xfrm>
            <a:off x="5349240" y="1143000"/>
            <a:ext cx="3383280" cy="320040"/>
          </a:xfrm>
          <a:prstGeom prst="rect">
            <a:avLst/>
          </a:prstGeom>
          <a:noFill/>
          <a:ln/>
        </p:spPr>
        <p:txBody>
          <a:bodyPr wrap="square" rtlCol="0" anchor="ctr"/>
          <a:lstStyle/>
          <a:p>
            <a:pPr marL="0" indent="0">
              <a:buNone/>
              <a:defRPr/>
            </a:pPr>
            <a:r>
              <a:rPr lang="en-US" sz="1300" b="1">
                <a:solidFill>
                  <a:srgbClr val="0D1B2A"/>
                </a:solidFill>
              </a:rPr>
              <a:t>Feature Engineering</a:t>
            </a:r>
            <a:endParaRPr lang="en-US" sz="1300"/>
          </a:p>
        </p:txBody>
      </p:sp>
      <p:sp>
        <p:nvSpPr>
          <p:cNvPr id="105098279" name="Text 14"/>
          <p:cNvSpPr/>
          <p:nvPr/>
        </p:nvSpPr>
        <p:spPr bwMode="auto">
          <a:xfrm>
            <a:off x="4892039" y="1517904"/>
            <a:ext cx="3886200" cy="1097280"/>
          </a:xfrm>
          <a:prstGeom prst="rect">
            <a:avLst/>
          </a:prstGeom>
          <a:noFill/>
          <a:ln/>
        </p:spPr>
        <p:txBody>
          <a:bodyPr wrap="square" rtlCol="0" anchor="t"/>
          <a:lstStyle/>
          <a:p>
            <a:pPr marL="0" indent="0">
              <a:buNone/>
              <a:defRPr/>
            </a:pPr>
            <a:r>
              <a:rPr lang="en-US" sz="1100">
                <a:solidFill>
                  <a:srgbClr val="1E293B"/>
                </a:solidFill>
              </a:rPr>
              <a:t>The Blood Pressure column was stored as a string (e.g., '120/80'). We parsed it into separate Systolic and Diastolic numerical features.</a:t>
            </a:r>
            <a:endParaRPr lang="en-US" sz="1100"/>
          </a:p>
        </p:txBody>
      </p:sp>
      <p:sp>
        <p:nvSpPr>
          <p:cNvPr id="833827226" name="Shape 15"/>
          <p:cNvSpPr/>
          <p:nvPr/>
        </p:nvSpPr>
        <p:spPr bwMode="auto">
          <a:xfrm>
            <a:off x="320040" y="2926080"/>
            <a:ext cx="4114800" cy="1737360"/>
          </a:xfrm>
          <a:prstGeom prst="rect">
            <a:avLst/>
          </a:prstGeom>
          <a:solidFill>
            <a:srgbClr val="E9F5F6"/>
          </a:solidFill>
          <a:ln w="12700">
            <a:solidFill>
              <a:srgbClr val="94D2BD"/>
            </a:solidFill>
            <a:prstDash val="solid"/>
          </a:ln>
          <a:effectLst>
            <a:outerShdw blurRad="101600" dist="38100" dir="8100000" sx="100000" sy="100000" kx="0" ky="0" algn="bl" rotWithShape="0">
              <a:srgbClr val="000000">
                <a:alpha val="13000"/>
              </a:srgbClr>
            </a:outerShdw>
          </a:effectLst>
        </p:spPr>
      </p:sp>
      <p:sp>
        <p:nvSpPr>
          <p:cNvPr id="567008886" name="Text 16"/>
          <p:cNvSpPr/>
          <p:nvPr/>
        </p:nvSpPr>
        <p:spPr bwMode="auto">
          <a:xfrm>
            <a:off x="320040" y="3017519"/>
            <a:ext cx="640080" cy="502920"/>
          </a:xfrm>
          <a:prstGeom prst="rect">
            <a:avLst/>
          </a:prstGeom>
          <a:noFill/>
          <a:ln/>
        </p:spPr>
        <p:txBody>
          <a:bodyPr wrap="square" rtlCol="0" anchor="ctr"/>
          <a:lstStyle/>
          <a:p>
            <a:pPr marL="0" indent="0" algn="ctr">
              <a:buNone/>
              <a:defRPr/>
            </a:pPr>
            <a:r>
              <a:rPr lang="en-US" sz="2200">
                <a:solidFill>
                  <a:srgbClr val="000000"/>
                </a:solidFill>
              </a:rPr>
              <a:t>📊</a:t>
            </a:r>
            <a:endParaRPr lang="en-US" sz="2200"/>
          </a:p>
        </p:txBody>
      </p:sp>
      <p:sp>
        <p:nvSpPr>
          <p:cNvPr id="950604804" name="Text 17"/>
          <p:cNvSpPr/>
          <p:nvPr/>
        </p:nvSpPr>
        <p:spPr bwMode="auto">
          <a:xfrm>
            <a:off x="914400" y="3063240"/>
            <a:ext cx="3383280" cy="320040"/>
          </a:xfrm>
          <a:prstGeom prst="rect">
            <a:avLst/>
          </a:prstGeom>
          <a:noFill/>
          <a:ln/>
        </p:spPr>
        <p:txBody>
          <a:bodyPr wrap="square" rtlCol="0" anchor="ctr"/>
          <a:lstStyle/>
          <a:p>
            <a:pPr marL="0" indent="0">
              <a:buNone/>
              <a:defRPr/>
            </a:pPr>
            <a:r>
              <a:rPr lang="en-US" sz="1300" b="1">
                <a:solidFill>
                  <a:srgbClr val="0D1B2A"/>
                </a:solidFill>
              </a:rPr>
              <a:t>Model Stability</a:t>
            </a:r>
            <a:endParaRPr lang="en-US" sz="1300"/>
          </a:p>
        </p:txBody>
      </p:sp>
      <p:sp>
        <p:nvSpPr>
          <p:cNvPr id="1153619600" name="Text 18"/>
          <p:cNvSpPr/>
          <p:nvPr/>
        </p:nvSpPr>
        <p:spPr bwMode="auto">
          <a:xfrm>
            <a:off x="457200" y="3438144"/>
            <a:ext cx="3886200" cy="1097280"/>
          </a:xfrm>
          <a:prstGeom prst="rect">
            <a:avLst/>
          </a:prstGeom>
          <a:noFill/>
          <a:ln/>
        </p:spPr>
        <p:txBody>
          <a:bodyPr wrap="square" rtlCol="0" anchor="t"/>
          <a:lstStyle/>
          <a:p>
            <a:pPr marL="0" indent="0">
              <a:buNone/>
              <a:defRPr/>
            </a:pPr>
            <a:r>
              <a:rPr lang="en-US" sz="1100">
                <a:solidFill>
                  <a:srgbClr val="1E293B"/>
                </a:solidFill>
              </a:rPr>
              <a:t>5-fold cross-validation was used to detect overfitting and confirm that test-set performance was consistent with training trends.</a:t>
            </a:r>
            <a:endParaRPr lang="en-US" sz="1100"/>
          </a:p>
        </p:txBody>
      </p:sp>
      <p:sp>
        <p:nvSpPr>
          <p:cNvPr id="1290258533" name="Shape 19"/>
          <p:cNvSpPr/>
          <p:nvPr/>
        </p:nvSpPr>
        <p:spPr bwMode="auto">
          <a:xfrm>
            <a:off x="4754880" y="2926080"/>
            <a:ext cx="4114800" cy="1737360"/>
          </a:xfrm>
          <a:prstGeom prst="rect">
            <a:avLst/>
          </a:prstGeom>
          <a:solidFill>
            <a:srgbClr val="E9F5F6"/>
          </a:solidFill>
          <a:ln w="12700">
            <a:solidFill>
              <a:srgbClr val="94D2BD"/>
            </a:solidFill>
            <a:prstDash val="solid"/>
          </a:ln>
          <a:effectLst>
            <a:outerShdw blurRad="101600" dist="38100" dir="8100000" sx="100000" sy="100000" kx="0" ky="0" algn="bl" rotWithShape="0">
              <a:srgbClr val="000000">
                <a:alpha val="13000"/>
              </a:srgbClr>
            </a:outerShdw>
          </a:effectLst>
        </p:spPr>
      </p:sp>
      <p:sp>
        <p:nvSpPr>
          <p:cNvPr id="181707108" name="Text 20"/>
          <p:cNvSpPr/>
          <p:nvPr/>
        </p:nvSpPr>
        <p:spPr bwMode="auto">
          <a:xfrm>
            <a:off x="4754880" y="3017519"/>
            <a:ext cx="640080" cy="502920"/>
          </a:xfrm>
          <a:prstGeom prst="rect">
            <a:avLst/>
          </a:prstGeom>
          <a:noFill/>
          <a:ln/>
        </p:spPr>
        <p:txBody>
          <a:bodyPr wrap="square" rtlCol="0" anchor="ctr"/>
          <a:lstStyle/>
          <a:p>
            <a:pPr marL="0" indent="0" algn="ctr">
              <a:buNone/>
              <a:defRPr/>
            </a:pPr>
            <a:r>
              <a:rPr lang="en-US" sz="2200">
                <a:solidFill>
                  <a:srgbClr val="000000"/>
                </a:solidFill>
              </a:rPr>
              <a:t>⚖️</a:t>
            </a:r>
            <a:endParaRPr lang="en-US" sz="2200"/>
          </a:p>
        </p:txBody>
      </p:sp>
      <p:sp>
        <p:nvSpPr>
          <p:cNvPr id="1579844691" name="Text 21"/>
          <p:cNvSpPr/>
          <p:nvPr/>
        </p:nvSpPr>
        <p:spPr bwMode="auto">
          <a:xfrm>
            <a:off x="5349240" y="3063240"/>
            <a:ext cx="3383280" cy="320040"/>
          </a:xfrm>
          <a:prstGeom prst="rect">
            <a:avLst/>
          </a:prstGeom>
          <a:noFill/>
          <a:ln/>
        </p:spPr>
        <p:txBody>
          <a:bodyPr wrap="square" rtlCol="0" anchor="ctr"/>
          <a:lstStyle/>
          <a:p>
            <a:pPr marL="0" indent="0">
              <a:buNone/>
              <a:defRPr/>
            </a:pPr>
            <a:r>
              <a:rPr lang="en-US" sz="1300" b="1">
                <a:solidFill>
                  <a:srgbClr val="0D1B2A"/>
                </a:solidFill>
              </a:rPr>
              <a:t>Fairness Gaps</a:t>
            </a:r>
            <a:endParaRPr lang="en-US" sz="1300"/>
          </a:p>
        </p:txBody>
      </p:sp>
      <p:sp>
        <p:nvSpPr>
          <p:cNvPr id="1645509211" name="Text 22"/>
          <p:cNvSpPr/>
          <p:nvPr/>
        </p:nvSpPr>
        <p:spPr bwMode="auto">
          <a:xfrm>
            <a:off x="4892039" y="3438144"/>
            <a:ext cx="3886200" cy="1097280"/>
          </a:xfrm>
          <a:prstGeom prst="rect">
            <a:avLst/>
          </a:prstGeom>
          <a:noFill/>
          <a:ln/>
        </p:spPr>
        <p:txBody>
          <a:bodyPr wrap="square" rtlCol="0" anchor="t"/>
          <a:lstStyle/>
          <a:p>
            <a:pPr marL="0" indent="0">
              <a:buNone/>
              <a:defRPr/>
            </a:pPr>
            <a:r>
              <a:rPr lang="en-US" sz="1100">
                <a:solidFill>
                  <a:srgbClr val="1E293B"/>
                </a:solidFill>
              </a:rPr>
              <a:t>Initial fairness audit revealed minor accuracy differences by BMI category. Groups with fewer than 5 samples were flagged and interpreted with caution.</a:t>
            </a:r>
            <a:endParaRPr lang="en-US" sz="11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8">
    <p:bg>
      <p:bgPr shadeToTitle="0">
        <a:solidFill>
          <a:srgbClr val="FFFFFF"/>
        </a:solidFill>
      </p:bgPr>
    </p:bg>
    <p:spTree>
      <p:nvGrpSpPr>
        <p:cNvPr id="1" name=""/>
        <p:cNvGrpSpPr/>
        <p:nvPr/>
      </p:nvGrpSpPr>
      <p:grpSpPr bwMode="auto">
        <a:xfrm>
          <a:off x="0" y="0"/>
          <a:ext cx="0" cy="0"/>
          <a:chOff x="0" y="0"/>
          <a:chExt cx="0" cy="0"/>
        </a:xfrm>
      </p:grpSpPr>
      <p:sp>
        <p:nvSpPr>
          <p:cNvPr id="2138355063" name="Shape 0"/>
          <p:cNvSpPr/>
          <p:nvPr/>
        </p:nvSpPr>
        <p:spPr bwMode="auto">
          <a:xfrm>
            <a:off x="0" y="0"/>
            <a:ext cx="9144000" cy="658368"/>
          </a:xfrm>
          <a:prstGeom prst="rect">
            <a:avLst/>
          </a:prstGeom>
          <a:solidFill>
            <a:srgbClr val="0D1B2A"/>
          </a:solidFill>
          <a:ln w="12700">
            <a:solidFill>
              <a:srgbClr val="0D1B2A"/>
            </a:solidFill>
            <a:prstDash val="solid"/>
          </a:ln>
        </p:spPr>
      </p:sp>
      <p:sp>
        <p:nvSpPr>
          <p:cNvPr id="868012760" name="Shape 1"/>
          <p:cNvSpPr/>
          <p:nvPr/>
        </p:nvSpPr>
        <p:spPr bwMode="auto">
          <a:xfrm>
            <a:off x="411480" y="118872"/>
            <a:ext cx="347472" cy="347472"/>
          </a:xfrm>
          <a:prstGeom prst="rect">
            <a:avLst/>
          </a:prstGeom>
          <a:solidFill>
            <a:srgbClr val="0A9396"/>
          </a:solidFill>
          <a:ln w="12700">
            <a:solidFill>
              <a:srgbClr val="0A9396"/>
            </a:solidFill>
            <a:prstDash val="solid"/>
          </a:ln>
        </p:spPr>
      </p:sp>
      <p:sp>
        <p:nvSpPr>
          <p:cNvPr id="261572427" name="Text 2"/>
          <p:cNvSpPr/>
          <p:nvPr/>
        </p:nvSpPr>
        <p:spPr bwMode="auto">
          <a:xfrm>
            <a:off x="411480" y="118872"/>
            <a:ext cx="347472" cy="347472"/>
          </a:xfrm>
          <a:prstGeom prst="rect">
            <a:avLst/>
          </a:prstGeom>
          <a:noFill/>
          <a:ln/>
        </p:spPr>
        <p:txBody>
          <a:bodyPr wrap="square" lIns="0" tIns="0" rIns="0" bIns="0" rtlCol="0" anchor="ctr"/>
          <a:lstStyle/>
          <a:p>
            <a:pPr marL="0" indent="0" algn="ctr">
              <a:buNone/>
              <a:defRPr/>
            </a:pPr>
            <a:r>
              <a:rPr lang="en-US" sz="1400" b="1">
                <a:solidFill>
                  <a:srgbClr val="FFFFFF"/>
                </a:solidFill>
              </a:rPr>
              <a:t>7</a:t>
            </a:r>
            <a:endParaRPr lang="en-US" sz="1400"/>
          </a:p>
        </p:txBody>
      </p:sp>
      <p:sp>
        <p:nvSpPr>
          <p:cNvPr id="2140329689" name="Text 3"/>
          <p:cNvSpPr/>
          <p:nvPr/>
        </p:nvSpPr>
        <p:spPr bwMode="auto">
          <a:xfrm>
            <a:off x="868680" y="118872"/>
            <a:ext cx="8046720" cy="347472"/>
          </a:xfrm>
          <a:prstGeom prst="rect">
            <a:avLst/>
          </a:prstGeom>
          <a:noFill/>
          <a:ln/>
        </p:spPr>
        <p:txBody>
          <a:bodyPr wrap="square" lIns="0" tIns="0" rIns="0" bIns="0" rtlCol="0" anchor="ctr"/>
          <a:lstStyle/>
          <a:p>
            <a:pPr marL="0" indent="0">
              <a:buNone/>
              <a:defRPr/>
            </a:pPr>
            <a:r>
              <a:rPr lang="en-US" sz="1800" b="1">
                <a:solidFill>
                  <a:srgbClr val="FFFFFF"/>
                </a:solidFill>
              </a:rPr>
              <a:t>Future Directions</a:t>
            </a:r>
            <a:endParaRPr lang="en-US" sz="1800"/>
          </a:p>
        </p:txBody>
      </p:sp>
      <p:sp>
        <p:nvSpPr>
          <p:cNvPr id="1739736377" name="Shape 4"/>
          <p:cNvSpPr/>
          <p:nvPr/>
        </p:nvSpPr>
        <p:spPr bwMode="auto">
          <a:xfrm>
            <a:off x="0" y="4937760"/>
            <a:ext cx="9144000" cy="201168"/>
          </a:xfrm>
          <a:prstGeom prst="rect">
            <a:avLst/>
          </a:prstGeom>
          <a:solidFill>
            <a:srgbClr val="0A9396"/>
          </a:solidFill>
          <a:ln w="12700">
            <a:solidFill>
              <a:srgbClr val="0A9396"/>
            </a:solidFill>
            <a:prstDash val="solid"/>
          </a:ln>
        </p:spPr>
      </p:sp>
      <p:sp>
        <p:nvSpPr>
          <p:cNvPr id="1595089902" name="Text 5"/>
          <p:cNvSpPr/>
          <p:nvPr/>
        </p:nvSpPr>
        <p:spPr bwMode="auto">
          <a:xfrm>
            <a:off x="274320" y="4937760"/>
            <a:ext cx="8595360" cy="201168"/>
          </a:xfrm>
          <a:prstGeom prst="rect">
            <a:avLst/>
          </a:prstGeom>
          <a:noFill/>
          <a:ln/>
        </p:spPr>
        <p:txBody>
          <a:bodyPr wrap="square" lIns="0" tIns="0" rIns="0" bIns="0" rtlCol="0" anchor="ctr"/>
          <a:lstStyle/>
          <a:p>
            <a:pPr marL="0" indent="0">
              <a:buNone/>
              <a:defRPr/>
            </a:pPr>
            <a:r>
              <a:rPr lang="en-US" sz="800">
                <a:solidFill>
                  <a:srgbClr val="FFFFFF"/>
                </a:solidFill>
              </a:rPr>
              <a:t>Sleep Disorder Classification  |  Final Project</a:t>
            </a:r>
            <a:endParaRPr lang="en-US" sz="800"/>
          </a:p>
        </p:txBody>
      </p:sp>
      <p:sp>
        <p:nvSpPr>
          <p:cNvPr id="1513542800" name="Text 6"/>
          <p:cNvSpPr/>
          <p:nvPr/>
        </p:nvSpPr>
        <p:spPr bwMode="auto">
          <a:xfrm>
            <a:off x="457200" y="713232"/>
            <a:ext cx="8229600" cy="274320"/>
          </a:xfrm>
          <a:prstGeom prst="rect">
            <a:avLst/>
          </a:prstGeom>
          <a:noFill/>
          <a:ln/>
        </p:spPr>
        <p:txBody>
          <a:bodyPr wrap="square" rtlCol="0" anchor="ctr"/>
          <a:lstStyle/>
          <a:p>
            <a:pPr marL="0" indent="0">
              <a:buNone/>
              <a:defRPr/>
            </a:pPr>
            <a:r>
              <a:rPr lang="en-US" sz="1000" i="1">
                <a:solidFill>
                  <a:srgbClr val="64748B"/>
                </a:solidFill>
              </a:rPr>
              <a:t>Key areas for improvement and lessons learned</a:t>
            </a:r>
            <a:endParaRPr lang="en-US" sz="1000"/>
          </a:p>
        </p:txBody>
      </p:sp>
      <p:sp>
        <p:nvSpPr>
          <p:cNvPr id="245111205" name="Shape 7"/>
          <p:cNvSpPr/>
          <p:nvPr/>
        </p:nvSpPr>
        <p:spPr bwMode="auto">
          <a:xfrm>
            <a:off x="457200" y="2441448"/>
            <a:ext cx="8229600" cy="45720"/>
          </a:xfrm>
          <a:prstGeom prst="rect">
            <a:avLst/>
          </a:prstGeom>
          <a:solidFill>
            <a:srgbClr val="94D2BD"/>
          </a:solidFill>
          <a:ln w="12700">
            <a:solidFill>
              <a:srgbClr val="94D2BD"/>
            </a:solidFill>
            <a:prstDash val="solid"/>
          </a:ln>
        </p:spPr>
      </p:sp>
      <p:sp>
        <p:nvSpPr>
          <p:cNvPr id="157129858" name="Shape 8"/>
          <p:cNvSpPr/>
          <p:nvPr/>
        </p:nvSpPr>
        <p:spPr bwMode="auto">
          <a:xfrm>
            <a:off x="960120" y="2304288"/>
            <a:ext cx="228600" cy="228600"/>
          </a:xfrm>
          <a:prstGeom prst="ellipse">
            <a:avLst/>
          </a:prstGeom>
          <a:solidFill>
            <a:srgbClr val="0A9396"/>
          </a:solidFill>
          <a:ln w="12700">
            <a:solidFill>
              <a:srgbClr val="0A9396"/>
            </a:solidFill>
            <a:prstDash val="solid"/>
          </a:ln>
        </p:spPr>
      </p:sp>
      <p:sp>
        <p:nvSpPr>
          <p:cNvPr id="306872544" name="Shape 9"/>
          <p:cNvSpPr/>
          <p:nvPr/>
        </p:nvSpPr>
        <p:spPr bwMode="auto">
          <a:xfrm>
            <a:off x="530352" y="960120"/>
            <a:ext cx="1508759" cy="1371600"/>
          </a:xfrm>
          <a:prstGeom prst="rect">
            <a:avLst/>
          </a:prstGeom>
          <a:solidFill>
            <a:srgbClr val="0D1B2A"/>
          </a:solidFill>
          <a:ln w="12700">
            <a:solidFill>
              <a:srgbClr val="0A9396"/>
            </a:solidFill>
            <a:prstDash val="solid"/>
          </a:ln>
          <a:effectLst>
            <a:outerShdw blurRad="101600" dist="38100" dir="8100000" sx="100000" sy="100000" kx="0" ky="0" algn="bl" rotWithShape="0">
              <a:srgbClr val="000000">
                <a:alpha val="13000"/>
              </a:srgbClr>
            </a:outerShdw>
          </a:effectLst>
        </p:spPr>
      </p:sp>
      <p:sp>
        <p:nvSpPr>
          <p:cNvPr id="734511268" name="Text 10"/>
          <p:cNvSpPr/>
          <p:nvPr/>
        </p:nvSpPr>
        <p:spPr bwMode="auto">
          <a:xfrm>
            <a:off x="576072" y="1051560"/>
            <a:ext cx="1417320" cy="347472"/>
          </a:xfrm>
          <a:prstGeom prst="rect">
            <a:avLst/>
          </a:prstGeom>
          <a:noFill/>
          <a:ln/>
        </p:spPr>
        <p:txBody>
          <a:bodyPr wrap="square" rtlCol="0" anchor="ctr"/>
          <a:lstStyle/>
          <a:p>
            <a:pPr marL="0" indent="0" algn="ctr">
              <a:buNone/>
              <a:defRPr/>
            </a:pPr>
            <a:r>
              <a:rPr lang="en-US" sz="1100" b="1">
                <a:solidFill>
                  <a:srgbClr val="94D2BD"/>
                </a:solidFill>
              </a:rPr>
              <a:t>Larger Dataset</a:t>
            </a:r>
            <a:endParaRPr lang="en-US" sz="1100"/>
          </a:p>
        </p:txBody>
      </p:sp>
      <p:sp>
        <p:nvSpPr>
          <p:cNvPr id="1125563741" name="Text 11"/>
          <p:cNvSpPr/>
          <p:nvPr/>
        </p:nvSpPr>
        <p:spPr bwMode="auto">
          <a:xfrm>
            <a:off x="576072" y="1417320"/>
            <a:ext cx="1417320" cy="822960"/>
          </a:xfrm>
          <a:prstGeom prst="rect">
            <a:avLst/>
          </a:prstGeom>
          <a:noFill/>
          <a:ln/>
        </p:spPr>
        <p:txBody>
          <a:bodyPr wrap="square" rtlCol="0" anchor="t"/>
          <a:lstStyle/>
          <a:p>
            <a:pPr marL="0" indent="0" algn="ctr">
              <a:buNone/>
              <a:defRPr/>
            </a:pPr>
            <a:r>
              <a:rPr lang="en-US" sz="900">
                <a:solidFill>
                  <a:srgbClr val="FFFFFF"/>
                </a:solidFill>
              </a:rPr>
              <a:t>Collect or augment with PSG or wearable sensor data to improve generalizability and reduce demographic sampling gaps.</a:t>
            </a:r>
            <a:endParaRPr lang="en-US" sz="900"/>
          </a:p>
        </p:txBody>
      </p:sp>
      <p:sp>
        <p:nvSpPr>
          <p:cNvPr id="41270282" name="Shape 12"/>
          <p:cNvSpPr/>
          <p:nvPr/>
        </p:nvSpPr>
        <p:spPr bwMode="auto">
          <a:xfrm>
            <a:off x="1051560" y="2331720"/>
            <a:ext cx="36576" cy="109728"/>
          </a:xfrm>
          <a:prstGeom prst="rect">
            <a:avLst/>
          </a:prstGeom>
          <a:solidFill>
            <a:srgbClr val="94D2BD"/>
          </a:solidFill>
          <a:ln w="12700">
            <a:solidFill>
              <a:srgbClr val="94D2BD"/>
            </a:solidFill>
            <a:prstDash val="solid"/>
          </a:ln>
        </p:spPr>
      </p:sp>
      <p:sp>
        <p:nvSpPr>
          <p:cNvPr id="1453480213" name="Shape 13"/>
          <p:cNvSpPr/>
          <p:nvPr/>
        </p:nvSpPr>
        <p:spPr bwMode="auto">
          <a:xfrm>
            <a:off x="2624328" y="2304288"/>
            <a:ext cx="228600" cy="228600"/>
          </a:xfrm>
          <a:prstGeom prst="ellipse">
            <a:avLst/>
          </a:prstGeom>
          <a:solidFill>
            <a:srgbClr val="0A9396"/>
          </a:solidFill>
          <a:ln w="12700">
            <a:solidFill>
              <a:srgbClr val="0A9396"/>
            </a:solidFill>
            <a:prstDash val="solid"/>
          </a:ln>
        </p:spPr>
      </p:sp>
      <p:sp>
        <p:nvSpPr>
          <p:cNvPr id="1811450932" name="Shape 14"/>
          <p:cNvSpPr/>
          <p:nvPr/>
        </p:nvSpPr>
        <p:spPr bwMode="auto">
          <a:xfrm>
            <a:off x="2194560" y="2834640"/>
            <a:ext cx="1508759" cy="1417320"/>
          </a:xfrm>
          <a:prstGeom prst="rect">
            <a:avLst/>
          </a:prstGeom>
          <a:solidFill>
            <a:srgbClr val="0D1B2A"/>
          </a:solidFill>
          <a:ln w="12700">
            <a:solidFill>
              <a:srgbClr val="0A9396"/>
            </a:solidFill>
            <a:prstDash val="solid"/>
          </a:ln>
          <a:effectLst>
            <a:outerShdw blurRad="101600" dist="38100" dir="8100000" sx="100000" sy="100000" kx="0" ky="0" algn="bl" rotWithShape="0">
              <a:srgbClr val="000000">
                <a:alpha val="13000"/>
              </a:srgbClr>
            </a:outerShdw>
          </a:effectLst>
        </p:spPr>
      </p:sp>
      <p:sp>
        <p:nvSpPr>
          <p:cNvPr id="1840547865" name="Text 15"/>
          <p:cNvSpPr/>
          <p:nvPr/>
        </p:nvSpPr>
        <p:spPr bwMode="auto">
          <a:xfrm>
            <a:off x="2240280" y="2926080"/>
            <a:ext cx="1417320" cy="347472"/>
          </a:xfrm>
          <a:prstGeom prst="rect">
            <a:avLst/>
          </a:prstGeom>
          <a:noFill/>
          <a:ln/>
        </p:spPr>
        <p:txBody>
          <a:bodyPr wrap="square" rtlCol="0" anchor="ctr"/>
          <a:lstStyle/>
          <a:p>
            <a:pPr marL="0" indent="0" algn="ctr">
              <a:buNone/>
              <a:defRPr/>
            </a:pPr>
            <a:r>
              <a:rPr lang="en-US" sz="1100" b="1">
                <a:solidFill>
                  <a:srgbClr val="94D2BD"/>
                </a:solidFill>
              </a:rPr>
              <a:t>Deep Learning</a:t>
            </a:r>
            <a:endParaRPr lang="en-US" sz="1100"/>
          </a:p>
        </p:txBody>
      </p:sp>
      <p:sp>
        <p:nvSpPr>
          <p:cNvPr id="1860794750" name="Text 16"/>
          <p:cNvSpPr/>
          <p:nvPr/>
        </p:nvSpPr>
        <p:spPr bwMode="auto">
          <a:xfrm>
            <a:off x="2240280" y="3291840"/>
            <a:ext cx="1417320" cy="868680"/>
          </a:xfrm>
          <a:prstGeom prst="rect">
            <a:avLst/>
          </a:prstGeom>
          <a:noFill/>
          <a:ln/>
        </p:spPr>
        <p:txBody>
          <a:bodyPr wrap="square" rtlCol="0" anchor="t"/>
          <a:lstStyle/>
          <a:p>
            <a:pPr marL="0" indent="0" algn="ctr">
              <a:buNone/>
              <a:defRPr/>
            </a:pPr>
            <a:r>
              <a:rPr lang="en-US" sz="900">
                <a:solidFill>
                  <a:srgbClr val="FFFFFF"/>
                </a:solidFill>
              </a:rPr>
              <a:t>Explore LSTM or Transformer models if time-series sleep metrics (e.g., nightly wearable data) become available.</a:t>
            </a:r>
            <a:endParaRPr lang="en-US" sz="900"/>
          </a:p>
        </p:txBody>
      </p:sp>
      <p:sp>
        <p:nvSpPr>
          <p:cNvPr id="1017836507" name="Shape 17"/>
          <p:cNvSpPr/>
          <p:nvPr/>
        </p:nvSpPr>
        <p:spPr bwMode="auto">
          <a:xfrm>
            <a:off x="2715768" y="2624328"/>
            <a:ext cx="36576" cy="210312"/>
          </a:xfrm>
          <a:prstGeom prst="rect">
            <a:avLst/>
          </a:prstGeom>
          <a:solidFill>
            <a:srgbClr val="94D2BD"/>
          </a:solidFill>
          <a:ln w="12700">
            <a:solidFill>
              <a:srgbClr val="94D2BD"/>
            </a:solidFill>
            <a:prstDash val="solid"/>
          </a:ln>
        </p:spPr>
      </p:sp>
      <p:sp>
        <p:nvSpPr>
          <p:cNvPr id="1285900593" name="Shape 18"/>
          <p:cNvSpPr/>
          <p:nvPr/>
        </p:nvSpPr>
        <p:spPr bwMode="auto">
          <a:xfrm>
            <a:off x="4288536" y="2304288"/>
            <a:ext cx="228600" cy="228600"/>
          </a:xfrm>
          <a:prstGeom prst="ellipse">
            <a:avLst/>
          </a:prstGeom>
          <a:solidFill>
            <a:srgbClr val="0A9396"/>
          </a:solidFill>
          <a:ln w="12700">
            <a:solidFill>
              <a:srgbClr val="0A9396"/>
            </a:solidFill>
            <a:prstDash val="solid"/>
          </a:ln>
        </p:spPr>
      </p:sp>
      <p:sp>
        <p:nvSpPr>
          <p:cNvPr id="803311975" name="Shape 19"/>
          <p:cNvSpPr/>
          <p:nvPr/>
        </p:nvSpPr>
        <p:spPr bwMode="auto">
          <a:xfrm>
            <a:off x="3858768" y="960120"/>
            <a:ext cx="1508759" cy="1371600"/>
          </a:xfrm>
          <a:prstGeom prst="rect">
            <a:avLst/>
          </a:prstGeom>
          <a:solidFill>
            <a:srgbClr val="0D1B2A"/>
          </a:solidFill>
          <a:ln w="12700">
            <a:solidFill>
              <a:srgbClr val="0A9396"/>
            </a:solidFill>
            <a:prstDash val="solid"/>
          </a:ln>
          <a:effectLst>
            <a:outerShdw blurRad="101600" dist="38100" dir="8100000" sx="100000" sy="100000" kx="0" ky="0" algn="bl" rotWithShape="0">
              <a:srgbClr val="000000">
                <a:alpha val="13000"/>
              </a:srgbClr>
            </a:outerShdw>
          </a:effectLst>
        </p:spPr>
      </p:sp>
      <p:sp>
        <p:nvSpPr>
          <p:cNvPr id="985377094" name="Text 20"/>
          <p:cNvSpPr/>
          <p:nvPr/>
        </p:nvSpPr>
        <p:spPr bwMode="auto">
          <a:xfrm>
            <a:off x="3904488" y="1051560"/>
            <a:ext cx="1417320" cy="347472"/>
          </a:xfrm>
          <a:prstGeom prst="rect">
            <a:avLst/>
          </a:prstGeom>
          <a:noFill/>
          <a:ln/>
        </p:spPr>
        <p:txBody>
          <a:bodyPr wrap="square" rtlCol="0" anchor="ctr"/>
          <a:lstStyle/>
          <a:p>
            <a:pPr marL="0" indent="0" algn="ctr">
              <a:buNone/>
              <a:defRPr/>
            </a:pPr>
            <a:r>
              <a:rPr lang="en-US" sz="1100" b="1">
                <a:solidFill>
                  <a:srgbClr val="94D2BD"/>
                </a:solidFill>
              </a:rPr>
              <a:t>Hyperparameter Tuning</a:t>
            </a:r>
            <a:endParaRPr lang="en-US" sz="1100"/>
          </a:p>
        </p:txBody>
      </p:sp>
      <p:sp>
        <p:nvSpPr>
          <p:cNvPr id="436922429" name="Text 21"/>
          <p:cNvSpPr/>
          <p:nvPr/>
        </p:nvSpPr>
        <p:spPr bwMode="auto">
          <a:xfrm>
            <a:off x="3904488" y="1417320"/>
            <a:ext cx="1417320" cy="822960"/>
          </a:xfrm>
          <a:prstGeom prst="rect">
            <a:avLst/>
          </a:prstGeom>
          <a:noFill/>
          <a:ln/>
        </p:spPr>
        <p:txBody>
          <a:bodyPr wrap="square" rtlCol="0" anchor="t"/>
          <a:lstStyle/>
          <a:p>
            <a:pPr marL="0" indent="0" algn="ctr">
              <a:buNone/>
              <a:defRPr/>
            </a:pPr>
            <a:r>
              <a:rPr lang="en-US" sz="900">
                <a:solidFill>
                  <a:srgbClr val="FFFFFF"/>
                </a:solidFill>
              </a:rPr>
              <a:t>Apply Bayesian optimization or Optuna for more principled model selection beyond default parameters.</a:t>
            </a:r>
            <a:endParaRPr lang="en-US" sz="900"/>
          </a:p>
        </p:txBody>
      </p:sp>
      <p:sp>
        <p:nvSpPr>
          <p:cNvPr id="1192422768" name="Shape 22"/>
          <p:cNvSpPr/>
          <p:nvPr/>
        </p:nvSpPr>
        <p:spPr bwMode="auto">
          <a:xfrm>
            <a:off x="4379976" y="2331720"/>
            <a:ext cx="36576" cy="109728"/>
          </a:xfrm>
          <a:prstGeom prst="rect">
            <a:avLst/>
          </a:prstGeom>
          <a:solidFill>
            <a:srgbClr val="94D2BD"/>
          </a:solidFill>
          <a:ln w="12700">
            <a:solidFill>
              <a:srgbClr val="94D2BD"/>
            </a:solidFill>
            <a:prstDash val="solid"/>
          </a:ln>
        </p:spPr>
      </p:sp>
      <p:sp>
        <p:nvSpPr>
          <p:cNvPr id="1442328544" name="Shape 23"/>
          <p:cNvSpPr/>
          <p:nvPr/>
        </p:nvSpPr>
        <p:spPr bwMode="auto">
          <a:xfrm>
            <a:off x="5952744" y="2304288"/>
            <a:ext cx="228600" cy="228600"/>
          </a:xfrm>
          <a:prstGeom prst="ellipse">
            <a:avLst/>
          </a:prstGeom>
          <a:solidFill>
            <a:srgbClr val="0A9396"/>
          </a:solidFill>
          <a:ln w="12700">
            <a:solidFill>
              <a:srgbClr val="0A9396"/>
            </a:solidFill>
            <a:prstDash val="solid"/>
          </a:ln>
        </p:spPr>
      </p:sp>
      <p:sp>
        <p:nvSpPr>
          <p:cNvPr id="924727592" name="Shape 24"/>
          <p:cNvSpPr/>
          <p:nvPr/>
        </p:nvSpPr>
        <p:spPr bwMode="auto">
          <a:xfrm>
            <a:off x="5522976" y="2834640"/>
            <a:ext cx="1508759" cy="1417320"/>
          </a:xfrm>
          <a:prstGeom prst="rect">
            <a:avLst/>
          </a:prstGeom>
          <a:solidFill>
            <a:srgbClr val="0D1B2A"/>
          </a:solidFill>
          <a:ln w="12700">
            <a:solidFill>
              <a:srgbClr val="0A9396"/>
            </a:solidFill>
            <a:prstDash val="solid"/>
          </a:ln>
          <a:effectLst>
            <a:outerShdw blurRad="101600" dist="38100" dir="8100000" sx="100000" sy="100000" kx="0" ky="0" algn="bl" rotWithShape="0">
              <a:srgbClr val="000000">
                <a:alpha val="13000"/>
              </a:srgbClr>
            </a:outerShdw>
          </a:effectLst>
        </p:spPr>
      </p:sp>
      <p:sp>
        <p:nvSpPr>
          <p:cNvPr id="2087289713" name="Text 25"/>
          <p:cNvSpPr/>
          <p:nvPr/>
        </p:nvSpPr>
        <p:spPr bwMode="auto">
          <a:xfrm>
            <a:off x="5568696" y="2926080"/>
            <a:ext cx="1417320" cy="347472"/>
          </a:xfrm>
          <a:prstGeom prst="rect">
            <a:avLst/>
          </a:prstGeom>
          <a:noFill/>
          <a:ln/>
        </p:spPr>
        <p:txBody>
          <a:bodyPr wrap="square" rtlCol="0" anchor="ctr"/>
          <a:lstStyle/>
          <a:p>
            <a:pPr marL="0" indent="0" algn="ctr">
              <a:buNone/>
              <a:defRPr/>
            </a:pPr>
            <a:r>
              <a:rPr lang="en-US" sz="1100" b="1">
                <a:solidFill>
                  <a:srgbClr val="94D2BD"/>
                </a:solidFill>
              </a:rPr>
              <a:t>Explainability</a:t>
            </a:r>
            <a:endParaRPr lang="en-US" sz="1100"/>
          </a:p>
        </p:txBody>
      </p:sp>
      <p:sp>
        <p:nvSpPr>
          <p:cNvPr id="664261746" name="Text 26"/>
          <p:cNvSpPr/>
          <p:nvPr/>
        </p:nvSpPr>
        <p:spPr bwMode="auto">
          <a:xfrm>
            <a:off x="5568696" y="3291840"/>
            <a:ext cx="1417320" cy="868680"/>
          </a:xfrm>
          <a:prstGeom prst="rect">
            <a:avLst/>
          </a:prstGeom>
          <a:noFill/>
          <a:ln/>
        </p:spPr>
        <p:txBody>
          <a:bodyPr wrap="square" rtlCol="0" anchor="t"/>
          <a:lstStyle/>
          <a:p>
            <a:pPr marL="0" indent="0" algn="ctr">
              <a:buNone/>
              <a:defRPr/>
            </a:pPr>
            <a:r>
              <a:rPr lang="en-US" sz="900">
                <a:solidFill>
                  <a:srgbClr val="FFFFFF"/>
                </a:solidFill>
              </a:rPr>
              <a:t>Integrate SHAP values for per-patient explanations — critical for clinical adoption and regulatory requirements.</a:t>
            </a:r>
            <a:endParaRPr lang="en-US" sz="900"/>
          </a:p>
        </p:txBody>
      </p:sp>
      <p:sp>
        <p:nvSpPr>
          <p:cNvPr id="126335364" name="Shape 27"/>
          <p:cNvSpPr/>
          <p:nvPr/>
        </p:nvSpPr>
        <p:spPr bwMode="auto">
          <a:xfrm>
            <a:off x="6044184" y="2624328"/>
            <a:ext cx="36576" cy="210312"/>
          </a:xfrm>
          <a:prstGeom prst="rect">
            <a:avLst/>
          </a:prstGeom>
          <a:solidFill>
            <a:srgbClr val="94D2BD"/>
          </a:solidFill>
          <a:ln w="12700">
            <a:solidFill>
              <a:srgbClr val="94D2BD"/>
            </a:solidFill>
            <a:prstDash val="solid"/>
          </a:ln>
        </p:spPr>
      </p:sp>
      <p:sp>
        <p:nvSpPr>
          <p:cNvPr id="1922032739" name="Shape 28"/>
          <p:cNvSpPr/>
          <p:nvPr/>
        </p:nvSpPr>
        <p:spPr bwMode="auto">
          <a:xfrm>
            <a:off x="7616952" y="2304288"/>
            <a:ext cx="228600" cy="228600"/>
          </a:xfrm>
          <a:prstGeom prst="ellipse">
            <a:avLst/>
          </a:prstGeom>
          <a:solidFill>
            <a:srgbClr val="0A9396"/>
          </a:solidFill>
          <a:ln w="12700">
            <a:solidFill>
              <a:srgbClr val="0A9396"/>
            </a:solidFill>
            <a:prstDash val="solid"/>
          </a:ln>
        </p:spPr>
      </p:sp>
      <p:sp>
        <p:nvSpPr>
          <p:cNvPr id="1504631233" name="Shape 29"/>
          <p:cNvSpPr/>
          <p:nvPr/>
        </p:nvSpPr>
        <p:spPr bwMode="auto">
          <a:xfrm>
            <a:off x="7187184" y="960120"/>
            <a:ext cx="1508759" cy="1371600"/>
          </a:xfrm>
          <a:prstGeom prst="rect">
            <a:avLst/>
          </a:prstGeom>
          <a:solidFill>
            <a:srgbClr val="0D1B2A"/>
          </a:solidFill>
          <a:ln w="12700">
            <a:solidFill>
              <a:srgbClr val="0A9396"/>
            </a:solidFill>
            <a:prstDash val="solid"/>
          </a:ln>
          <a:effectLst>
            <a:outerShdw blurRad="101600" dist="38100" dir="8100000" sx="100000" sy="100000" kx="0" ky="0" algn="bl" rotWithShape="0">
              <a:srgbClr val="000000">
                <a:alpha val="13000"/>
              </a:srgbClr>
            </a:outerShdw>
          </a:effectLst>
        </p:spPr>
      </p:sp>
      <p:sp>
        <p:nvSpPr>
          <p:cNvPr id="457305209" name="Text 30"/>
          <p:cNvSpPr/>
          <p:nvPr/>
        </p:nvSpPr>
        <p:spPr bwMode="auto">
          <a:xfrm>
            <a:off x="7232904" y="1051560"/>
            <a:ext cx="1417320" cy="347472"/>
          </a:xfrm>
          <a:prstGeom prst="rect">
            <a:avLst/>
          </a:prstGeom>
          <a:noFill/>
          <a:ln/>
        </p:spPr>
        <p:txBody>
          <a:bodyPr wrap="square" rtlCol="0" anchor="ctr"/>
          <a:lstStyle/>
          <a:p>
            <a:pPr marL="0" indent="0" algn="ctr">
              <a:buNone/>
              <a:defRPr/>
            </a:pPr>
            <a:r>
              <a:rPr lang="en-US" sz="1100" b="1">
                <a:solidFill>
                  <a:srgbClr val="94D2BD"/>
                </a:solidFill>
              </a:rPr>
              <a:t>Real-World Deployment</a:t>
            </a:r>
            <a:endParaRPr lang="en-US" sz="1100"/>
          </a:p>
        </p:txBody>
      </p:sp>
      <p:sp>
        <p:nvSpPr>
          <p:cNvPr id="1213963306" name="Text 31"/>
          <p:cNvSpPr/>
          <p:nvPr/>
        </p:nvSpPr>
        <p:spPr bwMode="auto">
          <a:xfrm>
            <a:off x="7232904" y="1417320"/>
            <a:ext cx="1417320" cy="822960"/>
          </a:xfrm>
          <a:prstGeom prst="rect">
            <a:avLst/>
          </a:prstGeom>
          <a:noFill/>
          <a:ln/>
        </p:spPr>
        <p:txBody>
          <a:bodyPr wrap="square" rtlCol="0" anchor="t"/>
          <a:lstStyle/>
          <a:p>
            <a:pPr marL="0" indent="0" algn="ctr">
              <a:buNone/>
              <a:defRPr/>
            </a:pPr>
            <a:r>
              <a:rPr lang="en-US" sz="900">
                <a:solidFill>
                  <a:srgbClr val="FFFFFF"/>
                </a:solidFill>
              </a:rPr>
              <a:t>Wrap the best model in a clinical screening tool with a user-facing interface and continuous model monitoring.</a:t>
            </a:r>
            <a:endParaRPr lang="en-US" sz="900"/>
          </a:p>
        </p:txBody>
      </p:sp>
      <p:sp>
        <p:nvSpPr>
          <p:cNvPr id="481929949" name="Shape 32"/>
          <p:cNvSpPr/>
          <p:nvPr/>
        </p:nvSpPr>
        <p:spPr bwMode="auto">
          <a:xfrm>
            <a:off x="7708392" y="2331720"/>
            <a:ext cx="36576" cy="109728"/>
          </a:xfrm>
          <a:prstGeom prst="rect">
            <a:avLst/>
          </a:prstGeom>
          <a:solidFill>
            <a:srgbClr val="94D2BD"/>
          </a:solidFill>
          <a:ln w="12700">
            <a:solidFill>
              <a:srgbClr val="94D2BD"/>
            </a:solidFill>
            <a:prstDash val="solid"/>
          </a:ln>
        </p:spPr>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9">
    <p:bg>
      <p:bgPr shadeToTitle="0">
        <a:solidFill>
          <a:srgbClr val="0D1B2A"/>
        </a:solidFill>
      </p:bgPr>
    </p:bg>
    <p:spTree>
      <p:nvGrpSpPr>
        <p:cNvPr id="1" name=""/>
        <p:cNvGrpSpPr/>
        <p:nvPr/>
      </p:nvGrpSpPr>
      <p:grpSpPr bwMode="auto">
        <a:xfrm>
          <a:off x="0" y="0"/>
          <a:ext cx="0" cy="0"/>
          <a:chOff x="0" y="0"/>
          <a:chExt cx="0" cy="0"/>
        </a:xfrm>
      </p:grpSpPr>
      <p:sp>
        <p:nvSpPr>
          <p:cNvPr id="352862553" name="Shape 0"/>
          <p:cNvSpPr/>
          <p:nvPr/>
        </p:nvSpPr>
        <p:spPr bwMode="auto">
          <a:xfrm>
            <a:off x="0" y="0"/>
            <a:ext cx="228600" cy="5143500"/>
          </a:xfrm>
          <a:prstGeom prst="rect">
            <a:avLst/>
          </a:prstGeom>
          <a:solidFill>
            <a:srgbClr val="0A9396"/>
          </a:solidFill>
          <a:ln w="12700">
            <a:solidFill>
              <a:srgbClr val="0A9396"/>
            </a:solidFill>
            <a:prstDash val="solid"/>
          </a:ln>
        </p:spPr>
      </p:sp>
      <p:sp>
        <p:nvSpPr>
          <p:cNvPr id="2030793285" name="Shape 1"/>
          <p:cNvSpPr/>
          <p:nvPr/>
        </p:nvSpPr>
        <p:spPr bwMode="auto">
          <a:xfrm>
            <a:off x="6858000" y="-457200"/>
            <a:ext cx="2743200" cy="2743200"/>
          </a:xfrm>
          <a:prstGeom prst="ellipse">
            <a:avLst/>
          </a:prstGeom>
          <a:solidFill>
            <a:srgbClr val="0A9396">
              <a:alpha val="15000"/>
            </a:srgbClr>
          </a:solidFill>
          <a:ln w="12700">
            <a:solidFill>
              <a:srgbClr val="0A9396">
                <a:alpha val="15000"/>
              </a:srgbClr>
            </a:solidFill>
            <a:prstDash val="solid"/>
          </a:ln>
        </p:spPr>
      </p:sp>
      <p:sp>
        <p:nvSpPr>
          <p:cNvPr id="43154043" name="Shape 2"/>
          <p:cNvSpPr/>
          <p:nvPr/>
        </p:nvSpPr>
        <p:spPr bwMode="auto">
          <a:xfrm>
            <a:off x="7498080" y="3200400"/>
            <a:ext cx="1645920" cy="1645920"/>
          </a:xfrm>
          <a:prstGeom prst="ellipse">
            <a:avLst/>
          </a:prstGeom>
          <a:solidFill>
            <a:srgbClr val="94D2BD">
              <a:alpha val="20000"/>
            </a:srgbClr>
          </a:solidFill>
          <a:ln w="12700">
            <a:solidFill>
              <a:srgbClr val="94D2BD">
                <a:alpha val="20000"/>
              </a:srgbClr>
            </a:solidFill>
            <a:prstDash val="solid"/>
          </a:ln>
        </p:spPr>
      </p:sp>
      <p:sp>
        <p:nvSpPr>
          <p:cNvPr id="16139102" name="Text 3"/>
          <p:cNvSpPr/>
          <p:nvPr/>
        </p:nvSpPr>
        <p:spPr bwMode="auto">
          <a:xfrm>
            <a:off x="502920" y="274320"/>
            <a:ext cx="411480" cy="411480"/>
          </a:xfrm>
          <a:prstGeom prst="rect">
            <a:avLst/>
          </a:prstGeom>
          <a:noFill/>
          <a:ln/>
        </p:spPr>
        <p:txBody>
          <a:bodyPr wrap="square" rtlCol="0" anchor="ctr"/>
          <a:lstStyle/>
          <a:p>
            <a:pPr marL="0" indent="0" algn="ctr">
              <a:buNone/>
              <a:defRPr/>
            </a:pPr>
            <a:r>
              <a:rPr lang="en-US" sz="1800" b="1">
                <a:solidFill>
                  <a:srgbClr val="FFFFFF"/>
                </a:solidFill>
              </a:rPr>
              <a:t>8</a:t>
            </a:r>
            <a:endParaRPr lang="en-US" sz="1800"/>
          </a:p>
        </p:txBody>
      </p:sp>
      <p:sp>
        <p:nvSpPr>
          <p:cNvPr id="93980372" name="Shape 4"/>
          <p:cNvSpPr/>
          <p:nvPr/>
        </p:nvSpPr>
        <p:spPr bwMode="auto">
          <a:xfrm>
            <a:off x="502920" y="274320"/>
            <a:ext cx="411480" cy="411480"/>
          </a:xfrm>
          <a:prstGeom prst="rect">
            <a:avLst/>
          </a:prstGeom>
          <a:solidFill>
            <a:srgbClr val="0A9396"/>
          </a:solidFill>
          <a:ln w="12700">
            <a:solidFill>
              <a:srgbClr val="0A9396"/>
            </a:solidFill>
            <a:prstDash val="solid"/>
          </a:ln>
        </p:spPr>
      </p:sp>
      <p:sp>
        <p:nvSpPr>
          <p:cNvPr id="989999393" name="Text 5"/>
          <p:cNvSpPr/>
          <p:nvPr/>
        </p:nvSpPr>
        <p:spPr bwMode="auto">
          <a:xfrm>
            <a:off x="502920" y="274320"/>
            <a:ext cx="411480" cy="411480"/>
          </a:xfrm>
          <a:prstGeom prst="rect">
            <a:avLst/>
          </a:prstGeom>
          <a:noFill/>
          <a:ln/>
        </p:spPr>
        <p:txBody>
          <a:bodyPr wrap="square" lIns="0" tIns="0" rIns="0" bIns="0" rtlCol="0" anchor="ctr"/>
          <a:lstStyle/>
          <a:p>
            <a:pPr marL="0" indent="0" algn="ctr">
              <a:buNone/>
              <a:defRPr/>
            </a:pPr>
            <a:r>
              <a:rPr lang="en-US" sz="1600" b="1">
                <a:solidFill>
                  <a:srgbClr val="FFFFFF"/>
                </a:solidFill>
              </a:rPr>
              <a:t>8</a:t>
            </a:r>
            <a:endParaRPr lang="en-US" sz="1600"/>
          </a:p>
        </p:txBody>
      </p:sp>
      <p:sp>
        <p:nvSpPr>
          <p:cNvPr id="1985808841" name="Text 6"/>
          <p:cNvSpPr/>
          <p:nvPr/>
        </p:nvSpPr>
        <p:spPr bwMode="auto">
          <a:xfrm>
            <a:off x="1210291" y="274320"/>
            <a:ext cx="5486400" cy="548640"/>
          </a:xfrm>
          <a:prstGeom prst="rect">
            <a:avLst/>
          </a:prstGeom>
          <a:noFill/>
          <a:ln/>
        </p:spPr>
        <p:txBody>
          <a:bodyPr wrap="square" rtlCol="0" anchor="ctr"/>
          <a:lstStyle/>
          <a:p>
            <a:pPr marL="0" indent="0">
              <a:buNone/>
              <a:defRPr/>
            </a:pPr>
            <a:r>
              <a:rPr lang="en-US" sz="3000" b="1">
                <a:solidFill>
                  <a:srgbClr val="FFFFFF"/>
                </a:solidFill>
              </a:rPr>
              <a:t>Conclusion</a:t>
            </a:r>
            <a:endParaRPr lang="en-US" sz="3000"/>
          </a:p>
        </p:txBody>
      </p:sp>
      <p:sp>
        <p:nvSpPr>
          <p:cNvPr id="1714598216" name="Shape 7"/>
          <p:cNvSpPr/>
          <p:nvPr/>
        </p:nvSpPr>
        <p:spPr bwMode="auto">
          <a:xfrm>
            <a:off x="502920" y="960120"/>
            <a:ext cx="8046720" cy="1051560"/>
          </a:xfrm>
          <a:prstGeom prst="rect">
            <a:avLst/>
          </a:prstGeom>
          <a:solidFill>
            <a:srgbClr val="122636"/>
          </a:solidFill>
          <a:ln w="12700">
            <a:solidFill>
              <a:srgbClr val="0A9396"/>
            </a:solidFill>
            <a:prstDash val="solid"/>
          </a:ln>
          <a:effectLst>
            <a:outerShdw blurRad="101600" dist="38100" dir="8100000" sx="100000" sy="100000" kx="0" ky="0" algn="bl" rotWithShape="0">
              <a:srgbClr val="000000">
                <a:alpha val="13000"/>
              </a:srgbClr>
            </a:outerShdw>
          </a:effectLst>
        </p:spPr>
      </p:sp>
      <p:sp>
        <p:nvSpPr>
          <p:cNvPr id="583791541" name="Shape 8"/>
          <p:cNvSpPr/>
          <p:nvPr/>
        </p:nvSpPr>
        <p:spPr bwMode="auto">
          <a:xfrm>
            <a:off x="502920" y="960120"/>
            <a:ext cx="91440" cy="1051560"/>
          </a:xfrm>
          <a:prstGeom prst="rect">
            <a:avLst/>
          </a:prstGeom>
          <a:solidFill>
            <a:srgbClr val="0A9396"/>
          </a:solidFill>
          <a:ln w="12700">
            <a:solidFill>
              <a:srgbClr val="0A9396"/>
            </a:solidFill>
            <a:prstDash val="solid"/>
          </a:ln>
        </p:spPr>
      </p:sp>
      <p:sp>
        <p:nvSpPr>
          <p:cNvPr id="1773198451" name="Text 9"/>
          <p:cNvSpPr/>
          <p:nvPr/>
        </p:nvSpPr>
        <p:spPr bwMode="auto">
          <a:xfrm>
            <a:off x="731520" y="1051560"/>
            <a:ext cx="7589520" cy="274320"/>
          </a:xfrm>
          <a:prstGeom prst="rect">
            <a:avLst/>
          </a:prstGeom>
          <a:noFill/>
          <a:ln/>
        </p:spPr>
        <p:txBody>
          <a:bodyPr wrap="square" rtlCol="0" anchor="ctr"/>
          <a:lstStyle/>
          <a:p>
            <a:pPr marL="0" indent="0">
              <a:buNone/>
              <a:defRPr/>
            </a:pPr>
            <a:r>
              <a:rPr lang="en-US" sz="1300" b="1">
                <a:solidFill>
                  <a:srgbClr val="94D2BD"/>
                </a:solidFill>
              </a:rPr>
              <a:t>What Was Built</a:t>
            </a:r>
            <a:endParaRPr lang="en-US" sz="1300"/>
          </a:p>
        </p:txBody>
      </p:sp>
      <p:sp>
        <p:nvSpPr>
          <p:cNvPr id="1406313438" name="Text 10"/>
          <p:cNvSpPr/>
          <p:nvPr/>
        </p:nvSpPr>
        <p:spPr bwMode="auto">
          <a:xfrm>
            <a:off x="731520" y="1362455"/>
            <a:ext cx="7589520" cy="566928"/>
          </a:xfrm>
          <a:prstGeom prst="rect">
            <a:avLst/>
          </a:prstGeom>
          <a:noFill/>
          <a:ln/>
        </p:spPr>
        <p:txBody>
          <a:bodyPr wrap="square" rtlCol="0" anchor="t"/>
          <a:lstStyle/>
          <a:p>
            <a:pPr marL="0" indent="0">
              <a:buNone/>
              <a:defRPr/>
            </a:pPr>
            <a:r>
              <a:rPr lang="en-US" sz="1100">
                <a:solidFill>
                  <a:srgbClr val="FFFFFF"/>
                </a:solidFill>
              </a:rPr>
              <a:t>A 3-class sleep disorder classifier using Random Forest and XGBoost on real-world lifestyle data. This achieved high accuracy with minimal preprocessing.</a:t>
            </a:r>
            <a:endParaRPr lang="en-US" sz="1100"/>
          </a:p>
        </p:txBody>
      </p:sp>
      <p:sp>
        <p:nvSpPr>
          <p:cNvPr id="1150891295" name="Shape 11"/>
          <p:cNvSpPr/>
          <p:nvPr/>
        </p:nvSpPr>
        <p:spPr bwMode="auto">
          <a:xfrm>
            <a:off x="502920" y="2194560"/>
            <a:ext cx="8046720" cy="1051560"/>
          </a:xfrm>
          <a:prstGeom prst="rect">
            <a:avLst/>
          </a:prstGeom>
          <a:solidFill>
            <a:srgbClr val="122636"/>
          </a:solidFill>
          <a:ln w="12700">
            <a:solidFill>
              <a:srgbClr val="0A9396"/>
            </a:solidFill>
            <a:prstDash val="solid"/>
          </a:ln>
          <a:effectLst>
            <a:outerShdw blurRad="101600" dist="38100" dir="8100000" sx="100000" sy="100000" kx="0" ky="0" algn="bl" rotWithShape="0">
              <a:srgbClr val="000000">
                <a:alpha val="13000"/>
              </a:srgbClr>
            </a:outerShdw>
          </a:effectLst>
        </p:spPr>
      </p:sp>
      <p:sp>
        <p:nvSpPr>
          <p:cNvPr id="884622454" name="Shape 12"/>
          <p:cNvSpPr/>
          <p:nvPr/>
        </p:nvSpPr>
        <p:spPr bwMode="auto">
          <a:xfrm>
            <a:off x="502920" y="2194560"/>
            <a:ext cx="91440" cy="1051560"/>
          </a:xfrm>
          <a:prstGeom prst="rect">
            <a:avLst/>
          </a:prstGeom>
          <a:solidFill>
            <a:srgbClr val="0A9396"/>
          </a:solidFill>
          <a:ln w="12700">
            <a:solidFill>
              <a:srgbClr val="0A9396"/>
            </a:solidFill>
            <a:prstDash val="solid"/>
          </a:ln>
        </p:spPr>
      </p:sp>
      <p:sp>
        <p:nvSpPr>
          <p:cNvPr id="311230864" name="Text 13"/>
          <p:cNvSpPr/>
          <p:nvPr/>
        </p:nvSpPr>
        <p:spPr bwMode="auto">
          <a:xfrm>
            <a:off x="731520" y="2286000"/>
            <a:ext cx="7589520" cy="274320"/>
          </a:xfrm>
          <a:prstGeom prst="rect">
            <a:avLst/>
          </a:prstGeom>
          <a:noFill/>
          <a:ln/>
        </p:spPr>
        <p:txBody>
          <a:bodyPr wrap="square" rtlCol="0" anchor="ctr"/>
          <a:lstStyle/>
          <a:p>
            <a:pPr marL="0" indent="0">
              <a:buNone/>
              <a:defRPr/>
            </a:pPr>
            <a:r>
              <a:rPr lang="en-US" sz="1300" b="1">
                <a:solidFill>
                  <a:srgbClr val="94D2BD"/>
                </a:solidFill>
              </a:rPr>
              <a:t>What We Learned</a:t>
            </a:r>
            <a:endParaRPr lang="en-US" sz="1300"/>
          </a:p>
        </p:txBody>
      </p:sp>
      <p:sp>
        <p:nvSpPr>
          <p:cNvPr id="1824223401" name="Text 14"/>
          <p:cNvSpPr/>
          <p:nvPr/>
        </p:nvSpPr>
        <p:spPr bwMode="auto">
          <a:xfrm>
            <a:off x="731520" y="2596896"/>
            <a:ext cx="7589520" cy="566928"/>
          </a:xfrm>
          <a:prstGeom prst="rect">
            <a:avLst/>
          </a:prstGeom>
          <a:noFill/>
          <a:ln/>
        </p:spPr>
        <p:txBody>
          <a:bodyPr wrap="square" rtlCol="0" anchor="t"/>
          <a:lstStyle/>
          <a:p>
            <a:pPr marL="0" indent="0">
              <a:buNone/>
              <a:defRPr/>
            </a:pPr>
            <a:r>
              <a:rPr lang="en-US" sz="1100">
                <a:solidFill>
                  <a:srgbClr val="FFFFFF"/>
                </a:solidFill>
              </a:rPr>
              <a:t>Tree-based models are effective and interpretable for tabular health data. Feature engineering (BP parsing) and stratified splits were key to reliable results.</a:t>
            </a:r>
            <a:endParaRPr lang="en-US" sz="1100"/>
          </a:p>
        </p:txBody>
      </p:sp>
      <p:sp>
        <p:nvSpPr>
          <p:cNvPr id="9686235" name="Shape 15"/>
          <p:cNvSpPr/>
          <p:nvPr/>
        </p:nvSpPr>
        <p:spPr bwMode="auto">
          <a:xfrm>
            <a:off x="502920" y="3429000"/>
            <a:ext cx="8046720" cy="1051560"/>
          </a:xfrm>
          <a:prstGeom prst="rect">
            <a:avLst/>
          </a:prstGeom>
          <a:solidFill>
            <a:srgbClr val="122636"/>
          </a:solidFill>
          <a:ln w="12700">
            <a:solidFill>
              <a:srgbClr val="0A9396"/>
            </a:solidFill>
            <a:prstDash val="solid"/>
          </a:ln>
          <a:effectLst>
            <a:outerShdw blurRad="101600" dist="38100" dir="8100000" sx="100000" sy="100000" kx="0" ky="0" algn="bl" rotWithShape="0">
              <a:srgbClr val="000000">
                <a:alpha val="13000"/>
              </a:srgbClr>
            </a:outerShdw>
          </a:effectLst>
        </p:spPr>
      </p:sp>
      <p:sp>
        <p:nvSpPr>
          <p:cNvPr id="1631170308" name="Shape 16"/>
          <p:cNvSpPr/>
          <p:nvPr/>
        </p:nvSpPr>
        <p:spPr bwMode="auto">
          <a:xfrm>
            <a:off x="502920" y="3429000"/>
            <a:ext cx="91440" cy="1051560"/>
          </a:xfrm>
          <a:prstGeom prst="rect">
            <a:avLst/>
          </a:prstGeom>
          <a:solidFill>
            <a:srgbClr val="0A9396"/>
          </a:solidFill>
          <a:ln w="12700">
            <a:solidFill>
              <a:srgbClr val="0A9396"/>
            </a:solidFill>
            <a:prstDash val="solid"/>
          </a:ln>
        </p:spPr>
      </p:sp>
      <p:sp>
        <p:nvSpPr>
          <p:cNvPr id="709040516" name="Text 17"/>
          <p:cNvSpPr/>
          <p:nvPr/>
        </p:nvSpPr>
        <p:spPr bwMode="auto">
          <a:xfrm>
            <a:off x="731520" y="3520440"/>
            <a:ext cx="7589520" cy="274320"/>
          </a:xfrm>
          <a:prstGeom prst="rect">
            <a:avLst/>
          </a:prstGeom>
          <a:noFill/>
          <a:ln/>
        </p:spPr>
        <p:txBody>
          <a:bodyPr wrap="square" rtlCol="0" anchor="ctr"/>
          <a:lstStyle/>
          <a:p>
            <a:pPr marL="0" indent="0">
              <a:buNone/>
              <a:defRPr/>
            </a:pPr>
            <a:r>
              <a:rPr lang="en-US" sz="1300" b="1">
                <a:solidFill>
                  <a:srgbClr val="94D2BD"/>
                </a:solidFill>
              </a:rPr>
              <a:t>Broader Impact</a:t>
            </a:r>
            <a:endParaRPr lang="en-US" sz="1300"/>
          </a:p>
        </p:txBody>
      </p:sp>
      <p:sp>
        <p:nvSpPr>
          <p:cNvPr id="1915204061" name="Text 18"/>
          <p:cNvSpPr/>
          <p:nvPr/>
        </p:nvSpPr>
        <p:spPr bwMode="auto">
          <a:xfrm>
            <a:off x="731520" y="3831336"/>
            <a:ext cx="7589520" cy="566928"/>
          </a:xfrm>
          <a:prstGeom prst="rect">
            <a:avLst/>
          </a:prstGeom>
          <a:noFill/>
          <a:ln/>
        </p:spPr>
        <p:txBody>
          <a:bodyPr wrap="square" rtlCol="0" anchor="t"/>
          <a:lstStyle/>
          <a:p>
            <a:pPr marL="0" indent="0">
              <a:buNone/>
              <a:defRPr/>
            </a:pPr>
            <a:r>
              <a:rPr lang="en-US" sz="1100">
                <a:solidFill>
                  <a:srgbClr val="FFFFFF"/>
                </a:solidFill>
              </a:rPr>
              <a:t>Fairness auditing ensures equitable predictions across gender and BMI groups, a necessary step for any real clinical screening tool.</a:t>
            </a:r>
            <a:endParaRPr lang="en-US" sz="1100"/>
          </a:p>
        </p:txBody>
      </p:sp>
      <p:sp>
        <p:nvSpPr>
          <p:cNvPr id="1006061792" name="Text 19"/>
          <p:cNvSpPr/>
          <p:nvPr/>
        </p:nvSpPr>
        <p:spPr bwMode="auto">
          <a:xfrm>
            <a:off x="502920" y="4663440"/>
            <a:ext cx="8229600" cy="320040"/>
          </a:xfrm>
          <a:prstGeom prst="rect">
            <a:avLst/>
          </a:prstGeom>
          <a:noFill/>
          <a:ln/>
        </p:spPr>
        <p:txBody>
          <a:bodyPr wrap="square" rtlCol="0" anchor="ctr"/>
          <a:lstStyle/>
          <a:p>
            <a:pPr marL="0" indent="0" algn="ctr">
              <a:buNone/>
              <a:defRPr/>
            </a:pPr>
            <a:r>
              <a:rPr lang="en-US" sz="1200" i="1">
                <a:solidFill>
                  <a:srgbClr val="64748B"/>
                </a:solidFill>
              </a:rPr>
              <a:t>Thank you  •  Questions welcome</a:t>
            </a: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ONLYOFFICE/9.2.1.0</Application>
  <PresentationFormat>On-screen Show (4:3)</PresentationFormat>
  <Paragraphs>0</Paragraphs>
  <Slides>9</Slides>
  <Notes>9</Notes>
  <HiddenSlides>0</HiddenSlides>
  <MMClips>2</MMClips>
  <ScaleCrop>0</ScaleCrop>
  <HeadingPairs>
    <vt:vector size="4" baseType="variant">
      <vt:variant>
        <vt:lpstr>Theme</vt:lpstr>
      </vt:variant>
      <vt:variant>
        <vt:i4>1</vt:i4>
      </vt:variant>
      <vt:variant>
        <vt:lpstr>Slide Titles</vt:lpstr>
      </vt:variant>
      <vt:variant>
        <vt:i4>9</vt:i4>
      </vt:variant>
    </vt:vector>
  </HeadingPairs>
  <TitlesOfParts>
    <vt:vector size="10" baseType="lpstr">
      <vt:lpstr>Theme 1</vt:lpstr>
      <vt:lpstr>Slide 1</vt:lpstr>
      <vt:lpstr>Slide 2</vt:lpstr>
      <vt:lpstr>Slide 3</vt:lpstr>
      <vt:lpstr>Slide 4</vt:lpstr>
      <vt:lpstr>Slide 5</vt:lpstr>
      <vt:lpstr>Slide 6</vt:lpstr>
      <vt:lpstr>Slide 7</vt:lpstr>
      <vt:lpstr>Slide 8</vt:lpstr>
      <vt:lpstr>Slide 9</vt:lpstr>
    </vt:vector>
  </TitlesOfParts>
  <Company>PptxGenJS</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Sleep Disorder Classification</dc:title>
  <dc:subject>PptxGenJS Presentation</dc:subject>
  <dc:creator>PptxGenJS</dc:creator>
  <cp:lastModifiedBy/>
  <cp:revision>2</cp:revision>
  <dcterms:created xsi:type="dcterms:W3CDTF">2026-04-30T22:08:09Z</dcterms:created>
  <dcterms:modified xsi:type="dcterms:W3CDTF">2026-04-30T22:33:14Z</dcterms:modified>
</cp:coreProperties>
</file>